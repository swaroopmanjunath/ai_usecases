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Quattrocento Sans" charset="-122" pitchFamily="34"/>
      <p:regular r:id="rId20"/>
    </p:embeddedFont>
    <p:embeddedFont>
      <p:font typeface="Hedvig Letters Sans" charset="-122" pitchFamily="34"/>
      <p:regular r:id="rId21"/>
    </p:embeddedFon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26itsb5vlqdeq.cloudfront.net/c404a20666b9d66b19de194086ddb4f9d2b04bc1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0000" r="1000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F5F7">
                  <a:alpha val="95000"/>
                </a:srgbClr>
              </a:gs>
              <a:gs pos="50000">
                <a:srgbClr val="F5F5F7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Shape 2"/>
          <p:cNvSpPr/>
          <p:nvPr/>
        </p:nvSpPr>
        <p:spPr>
          <a:xfrm>
            <a:off x="585788" y="571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146" y="57150"/>
                </a:moveTo>
                <a:lnTo>
                  <a:pt x="62374" y="-5760"/>
                </a:lnTo>
                <a:cubicBezTo>
                  <a:pt x="59472" y="-10582"/>
                  <a:pt x="53400" y="-12323"/>
                  <a:pt x="48399" y="-9823"/>
                </a:cubicBezTo>
                <a:lnTo>
                  <a:pt x="9733" y="9510"/>
                </a:lnTo>
                <a:cubicBezTo>
                  <a:pt x="4420" y="12144"/>
                  <a:pt x="2277" y="18574"/>
                  <a:pt x="4911" y="23887"/>
                </a:cubicBezTo>
                <a:lnTo>
                  <a:pt x="35987" y="85993"/>
                </a:lnTo>
                <a:cubicBezTo>
                  <a:pt x="22547" y="101129"/>
                  <a:pt x="14421" y="121042"/>
                  <a:pt x="14421" y="142875"/>
                </a:cubicBezTo>
                <a:cubicBezTo>
                  <a:pt x="14421" y="190202"/>
                  <a:pt x="52819" y="228600"/>
                  <a:pt x="100146" y="228600"/>
                </a:cubicBezTo>
                <a:cubicBezTo>
                  <a:pt x="147474" y="228600"/>
                  <a:pt x="185871" y="190202"/>
                  <a:pt x="185871" y="142875"/>
                </a:cubicBezTo>
                <a:cubicBezTo>
                  <a:pt x="185871" y="121042"/>
                  <a:pt x="177701" y="101129"/>
                  <a:pt x="164306" y="85993"/>
                </a:cubicBezTo>
                <a:lnTo>
                  <a:pt x="195382" y="23887"/>
                </a:lnTo>
                <a:cubicBezTo>
                  <a:pt x="198016" y="18574"/>
                  <a:pt x="195873" y="12144"/>
                  <a:pt x="190604" y="9510"/>
                </a:cubicBezTo>
                <a:lnTo>
                  <a:pt x="151894" y="-9867"/>
                </a:lnTo>
                <a:cubicBezTo>
                  <a:pt x="146893" y="-12368"/>
                  <a:pt x="140777" y="-10582"/>
                  <a:pt x="137919" y="-5804"/>
                </a:cubicBezTo>
                <a:lnTo>
                  <a:pt x="100146" y="57150"/>
                </a:lnTo>
                <a:close/>
                <a:moveTo>
                  <a:pt x="113898" y="120774"/>
                </a:moveTo>
                <a:cubicBezTo>
                  <a:pt x="114523" y="122024"/>
                  <a:pt x="115684" y="122873"/>
                  <a:pt x="117024" y="123051"/>
                </a:cubicBezTo>
                <a:lnTo>
                  <a:pt x="139392" y="126310"/>
                </a:lnTo>
                <a:cubicBezTo>
                  <a:pt x="142830" y="126802"/>
                  <a:pt x="144170" y="130999"/>
                  <a:pt x="141714" y="133454"/>
                </a:cubicBezTo>
                <a:lnTo>
                  <a:pt x="125507" y="149260"/>
                </a:lnTo>
                <a:cubicBezTo>
                  <a:pt x="124524" y="150242"/>
                  <a:pt x="124078" y="151581"/>
                  <a:pt x="124301" y="152966"/>
                </a:cubicBezTo>
                <a:lnTo>
                  <a:pt x="128141" y="175245"/>
                </a:lnTo>
                <a:cubicBezTo>
                  <a:pt x="128721" y="178638"/>
                  <a:pt x="125150" y="181273"/>
                  <a:pt x="122069" y="179665"/>
                </a:cubicBezTo>
                <a:lnTo>
                  <a:pt x="102066" y="169128"/>
                </a:lnTo>
                <a:cubicBezTo>
                  <a:pt x="100861" y="168503"/>
                  <a:pt x="99387" y="168503"/>
                  <a:pt x="98182" y="169128"/>
                </a:cubicBezTo>
                <a:lnTo>
                  <a:pt x="78179" y="179665"/>
                </a:lnTo>
                <a:cubicBezTo>
                  <a:pt x="75099" y="181273"/>
                  <a:pt x="71527" y="178683"/>
                  <a:pt x="72107" y="175245"/>
                </a:cubicBezTo>
                <a:lnTo>
                  <a:pt x="75947" y="152966"/>
                </a:lnTo>
                <a:cubicBezTo>
                  <a:pt x="76170" y="151626"/>
                  <a:pt x="75724" y="150242"/>
                  <a:pt x="74741" y="149260"/>
                </a:cubicBezTo>
                <a:lnTo>
                  <a:pt x="58534" y="133454"/>
                </a:lnTo>
                <a:cubicBezTo>
                  <a:pt x="56034" y="131043"/>
                  <a:pt x="57418" y="126846"/>
                  <a:pt x="60856" y="126310"/>
                </a:cubicBezTo>
                <a:lnTo>
                  <a:pt x="83225" y="123051"/>
                </a:lnTo>
                <a:cubicBezTo>
                  <a:pt x="84564" y="122873"/>
                  <a:pt x="85770" y="121980"/>
                  <a:pt x="86350" y="120774"/>
                </a:cubicBezTo>
                <a:lnTo>
                  <a:pt x="96351" y="100504"/>
                </a:lnTo>
                <a:cubicBezTo>
                  <a:pt x="97869" y="97378"/>
                  <a:pt x="102290" y="97378"/>
                  <a:pt x="103852" y="100504"/>
                </a:cubicBezTo>
                <a:lnTo>
                  <a:pt x="113854" y="12077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5905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Project 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90725"/>
            <a:ext cx="66960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Olympic Medal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1243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467225"/>
            <a:ext cx="6353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Analysis of 120 Years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Olympic Data (1896-2016)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6719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621030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271,116 Records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12541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2429247" y="62103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1896-2016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51473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2"/>
          <p:cNvSpPr/>
          <p:nvPr/>
        </p:nvSpPr>
        <p:spPr>
          <a:xfrm>
            <a:off x="3780086" y="621030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Features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01935" y="3944519"/>
            <a:ext cx="4271570" cy="10454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Swaroop Kodagahalli Manjunathaswamy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Use Cases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SRH University Campus Leipzig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February 13,2026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031247" y="6351366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67110" y="18669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17907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Formulation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2209800"/>
            <a:ext cx="4657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the prediction task and dataset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6566222" y="18669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0" y="17907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0" y="2209800"/>
            <a:ext cx="4657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 from historical Olympic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403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545381" y="35559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47975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898850"/>
            <a:ext cx="4657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predictive features from raw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3403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29" y="35559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39000" y="347975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Selection &amp; Performance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39000" y="3898850"/>
            <a:ext cx="4657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Comparing classification algorithms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092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547018" y="52450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9200" y="516887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Predictors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9200" y="5587975"/>
            <a:ext cx="4657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what drives medal success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5092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6564288" y="524507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0" y="516887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Conclusions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9000" y="5587975"/>
            <a:ext cx="4657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constraints and final insights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31247" y="6351366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03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Problem Formulation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7200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We Predict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Olympic Medal Winners?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133600"/>
            <a:ext cx="6972300" cy="1295400"/>
          </a:xfrm>
          <a:custGeom>
            <a:avLst/>
            <a:gdLst/>
            <a:ahLst/>
            <a:cxnLst/>
            <a:rect l="l" t="t" r="r" b="b"/>
            <a:pathLst>
              <a:path w="6972300" h="1295400">
                <a:moveTo>
                  <a:pt x="152404" y="0"/>
                </a:moveTo>
                <a:lnTo>
                  <a:pt x="6819896" y="0"/>
                </a:lnTo>
                <a:cubicBezTo>
                  <a:pt x="6904066" y="0"/>
                  <a:pt x="6972300" y="68234"/>
                  <a:pt x="6972300" y="152404"/>
                </a:cubicBezTo>
                <a:lnTo>
                  <a:pt x="6972300" y="1142996"/>
                </a:lnTo>
                <a:cubicBezTo>
                  <a:pt x="6972300" y="1227166"/>
                  <a:pt x="6904066" y="1295400"/>
                  <a:pt x="68198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362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2950" y="2495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362200"/>
            <a:ext cx="600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2705100"/>
            <a:ext cx="5981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machine learning model to predict whether an athlete will win a medal (Gold, Silver, or Bronze) based on historical Olympic performance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3657600"/>
            <a:ext cx="6972300" cy="1295400"/>
          </a:xfrm>
          <a:custGeom>
            <a:avLst/>
            <a:gdLst/>
            <a:ahLst/>
            <a:cxnLst/>
            <a:rect l="l" t="t" r="r" b="b"/>
            <a:pathLst>
              <a:path w="6972300" h="1295400">
                <a:moveTo>
                  <a:pt x="152404" y="0"/>
                </a:moveTo>
                <a:lnTo>
                  <a:pt x="6819896" y="0"/>
                </a:lnTo>
                <a:cubicBezTo>
                  <a:pt x="6904066" y="0"/>
                  <a:pt x="6972300" y="68234"/>
                  <a:pt x="6972300" y="152404"/>
                </a:cubicBezTo>
                <a:lnTo>
                  <a:pt x="6972300" y="1142996"/>
                </a:lnTo>
                <a:cubicBezTo>
                  <a:pt x="6972300" y="1227166"/>
                  <a:pt x="6904066" y="1295400"/>
                  <a:pt x="68198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600" y="3886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6763" y="4019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3886200"/>
            <a:ext cx="600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4229100"/>
            <a:ext cx="5981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 predictions help athletes optimize training, enable coaches to identify promising talent, and assist sports analysts in understanding success factors.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5181600"/>
            <a:ext cx="6972300" cy="1295400"/>
          </a:xfrm>
          <a:custGeom>
            <a:avLst/>
            <a:gdLst/>
            <a:ahLst/>
            <a:cxnLst/>
            <a:rect l="l" t="t" r="r" b="b"/>
            <a:pathLst>
              <a:path w="6972300" h="1295400">
                <a:moveTo>
                  <a:pt x="152404" y="0"/>
                </a:moveTo>
                <a:lnTo>
                  <a:pt x="6819896" y="0"/>
                </a:lnTo>
                <a:cubicBezTo>
                  <a:pt x="6904066" y="0"/>
                  <a:pt x="6972300" y="68234"/>
                  <a:pt x="6972300" y="152404"/>
                </a:cubicBezTo>
                <a:lnTo>
                  <a:pt x="6972300" y="1142996"/>
                </a:lnTo>
                <a:cubicBezTo>
                  <a:pt x="6972300" y="1227166"/>
                  <a:pt x="6904066" y="1295400"/>
                  <a:pt x="68198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600" y="541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2950" y="5543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5410200"/>
            <a:ext cx="600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Variable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9200" y="5753100"/>
            <a:ext cx="5981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Medal outcome: Gold, Silver, Bronze, or NA (no medal). This is a multi-class classification problem with inherent class imbalance.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10500" y="381000"/>
            <a:ext cx="4000500" cy="6096000"/>
          </a:xfrm>
          <a:custGeom>
            <a:avLst/>
            <a:gdLst/>
            <a:ahLst/>
            <a:cxnLst/>
            <a:rect l="l" t="t" r="r" b="b"/>
            <a:pathLst>
              <a:path w="4000500" h="6096000">
                <a:moveTo>
                  <a:pt x="228589" y="0"/>
                </a:moveTo>
                <a:lnTo>
                  <a:pt x="3771911" y="0"/>
                </a:lnTo>
                <a:cubicBezTo>
                  <a:pt x="3898073" y="0"/>
                  <a:pt x="4000500" y="102427"/>
                  <a:pt x="4000500" y="228589"/>
                </a:cubicBezTo>
                <a:lnTo>
                  <a:pt x="4000500" y="5867411"/>
                </a:lnTo>
                <a:cubicBezTo>
                  <a:pt x="4000500" y="5993573"/>
                  <a:pt x="3898073" y="6096000"/>
                  <a:pt x="3771911" y="6096000"/>
                </a:cubicBezTo>
                <a:lnTo>
                  <a:pt x="228589" y="6096000"/>
                </a:lnTo>
                <a:cubicBezTo>
                  <a:pt x="102427" y="6096000"/>
                  <a:pt x="0" y="5993573"/>
                  <a:pt x="0" y="5867411"/>
                </a:cubicBezTo>
                <a:lnTo>
                  <a:pt x="0" y="228589"/>
                </a:lnTo>
                <a:cubicBezTo>
                  <a:pt x="0" y="102427"/>
                  <a:pt x="102427" y="0"/>
                  <a:pt x="2285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1259" y="695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8624888" y="685800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15300" y="1871663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8115300" y="142875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14347" y="1371600"/>
            <a:ext cx="1038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271,116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15300" y="2719388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8115300" y="2276475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27296" y="2219325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15300" y="3529013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8115300" y="310515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Span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02937" y="306705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1896-2016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15300" y="4338638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8115300" y="39147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Olympic Games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41658" y="38766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15300" y="472440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Sports Covered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32728" y="46863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15300" y="5557838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8081962" y="5791200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row represents one athlete in a specific Olympic event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93734" y="6477000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Categories &amp; Data Distribution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6724650" cy="1638300"/>
          </a:xfrm>
          <a:custGeom>
            <a:avLst/>
            <a:gdLst/>
            <a:ahLst/>
            <a:cxnLst/>
            <a:rect l="l" t="t" r="r" b="b"/>
            <a:pathLst>
              <a:path w="6724650" h="1638300">
                <a:moveTo>
                  <a:pt x="152395" y="0"/>
                </a:moveTo>
                <a:lnTo>
                  <a:pt x="6572255" y="0"/>
                </a:lnTo>
                <a:cubicBezTo>
                  <a:pt x="6656421" y="0"/>
                  <a:pt x="6724650" y="68229"/>
                  <a:pt x="6724650" y="152395"/>
                </a:cubicBezTo>
                <a:lnTo>
                  <a:pt x="6724650" y="1485905"/>
                </a:lnTo>
                <a:cubicBezTo>
                  <a:pt x="6724650" y="1570071"/>
                  <a:pt x="6656421" y="1638300"/>
                  <a:pt x="657225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7219" y="1485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809625" y="1447800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Athlete Demographics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1911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835125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Unique identifier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7590" y="1911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4008090" y="183512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Athlete name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2287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152576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Sex: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 or 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7590" y="22287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4008090" y="2152576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Integer (years)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254622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2470026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Centimeters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7590" y="254622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4008090" y="2470026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Kilograms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3048000"/>
            <a:ext cx="6724650" cy="1638300"/>
          </a:xfrm>
          <a:custGeom>
            <a:avLst/>
            <a:gdLst/>
            <a:ahLst/>
            <a:cxnLst/>
            <a:rect l="l" t="t" r="r" b="b"/>
            <a:pathLst>
              <a:path w="6724650" h="1638300">
                <a:moveTo>
                  <a:pt x="152395" y="0"/>
                </a:moveTo>
                <a:lnTo>
                  <a:pt x="6572255" y="0"/>
                </a:lnTo>
                <a:cubicBezTo>
                  <a:pt x="6656421" y="0"/>
                  <a:pt x="6724650" y="68229"/>
                  <a:pt x="6724650" y="152395"/>
                </a:cubicBezTo>
                <a:lnTo>
                  <a:pt x="6724650" y="1485905"/>
                </a:lnTo>
                <a:cubicBezTo>
                  <a:pt x="6724650" y="1570071"/>
                  <a:pt x="6656421" y="1638300"/>
                  <a:pt x="657225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219" y="32766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625" y="3238500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&amp; Event Information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3702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3625825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Team name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7590" y="3702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4008090" y="3625825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NOC: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3-letter country code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" y="40194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3943276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Year &amp; season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7590" y="40194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4008090" y="3943276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Integer year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1500" y="433692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4260726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Summer/Winter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7590" y="433692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4008090" y="4260726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Host city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4838700"/>
            <a:ext cx="6724650" cy="1638300"/>
          </a:xfrm>
          <a:custGeom>
            <a:avLst/>
            <a:gdLst/>
            <a:ahLst/>
            <a:cxnLst/>
            <a:rect l="l" t="t" r="r" b="b"/>
            <a:pathLst>
              <a:path w="6724650" h="1638300">
                <a:moveTo>
                  <a:pt x="152395" y="0"/>
                </a:moveTo>
                <a:lnTo>
                  <a:pt x="6572255" y="0"/>
                </a:lnTo>
                <a:cubicBezTo>
                  <a:pt x="6656421" y="0"/>
                  <a:pt x="6724650" y="68229"/>
                  <a:pt x="6724650" y="152395"/>
                </a:cubicBezTo>
                <a:lnTo>
                  <a:pt x="6724650" y="1485905"/>
                </a:lnTo>
                <a:cubicBezTo>
                  <a:pt x="6724650" y="1570071"/>
                  <a:pt x="6656421" y="1638300"/>
                  <a:pt x="657225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7219" y="5067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436" y="-11906"/>
                </a:moveTo>
                <a:cubicBezTo>
                  <a:pt x="106936" y="-11906"/>
                  <a:pt x="116272" y="-2570"/>
                  <a:pt x="116272" y="8930"/>
                </a:cubicBezTo>
                <a:cubicBezTo>
                  <a:pt x="116272" y="20429"/>
                  <a:pt x="106936" y="29766"/>
                  <a:pt x="95436" y="29766"/>
                </a:cubicBezTo>
                <a:cubicBezTo>
                  <a:pt x="83936" y="29766"/>
                  <a:pt x="74600" y="20429"/>
                  <a:pt x="74600" y="8930"/>
                </a:cubicBezTo>
                <a:cubicBezTo>
                  <a:pt x="74600" y="-2570"/>
                  <a:pt x="83936" y="-11906"/>
                  <a:pt x="95436" y="-11906"/>
                </a:cubicBezTo>
                <a:close/>
                <a:moveTo>
                  <a:pt x="45988" y="65484"/>
                </a:moveTo>
                <a:cubicBezTo>
                  <a:pt x="44760" y="65484"/>
                  <a:pt x="43681" y="66229"/>
                  <a:pt x="43235" y="67345"/>
                </a:cubicBezTo>
                <a:lnTo>
                  <a:pt x="35049" y="87771"/>
                </a:lnTo>
                <a:cubicBezTo>
                  <a:pt x="32593" y="93873"/>
                  <a:pt x="25673" y="96850"/>
                  <a:pt x="19571" y="94394"/>
                </a:cubicBezTo>
                <a:cubicBezTo>
                  <a:pt x="13469" y="91939"/>
                  <a:pt x="10492" y="85018"/>
                  <a:pt x="12948" y="78916"/>
                </a:cubicBezTo>
                <a:lnTo>
                  <a:pt x="21096" y="58489"/>
                </a:lnTo>
                <a:cubicBezTo>
                  <a:pt x="25189" y="48332"/>
                  <a:pt x="35012" y="41672"/>
                  <a:pt x="45988" y="41672"/>
                </a:cubicBezTo>
                <a:lnTo>
                  <a:pt x="82190" y="41672"/>
                </a:lnTo>
                <a:cubicBezTo>
                  <a:pt x="92794" y="41672"/>
                  <a:pt x="102580" y="47290"/>
                  <a:pt x="107900" y="56443"/>
                </a:cubicBezTo>
                <a:lnTo>
                  <a:pt x="120104" y="77391"/>
                </a:lnTo>
                <a:lnTo>
                  <a:pt x="143024" y="77391"/>
                </a:lnTo>
                <a:cubicBezTo>
                  <a:pt x="149609" y="77391"/>
                  <a:pt x="154930" y="82711"/>
                  <a:pt x="154930" y="89297"/>
                </a:cubicBezTo>
                <a:cubicBezTo>
                  <a:pt x="154930" y="95883"/>
                  <a:pt x="149609" y="101203"/>
                  <a:pt x="143024" y="101203"/>
                </a:cubicBezTo>
                <a:lnTo>
                  <a:pt x="120104" y="101203"/>
                </a:lnTo>
                <a:cubicBezTo>
                  <a:pt x="111621" y="101203"/>
                  <a:pt x="103808" y="96701"/>
                  <a:pt x="99529" y="89371"/>
                </a:cubicBezTo>
                <a:lnTo>
                  <a:pt x="95808" y="83009"/>
                </a:lnTo>
                <a:lnTo>
                  <a:pt x="88106" y="109203"/>
                </a:lnTo>
                <a:lnTo>
                  <a:pt x="116160" y="117611"/>
                </a:lnTo>
                <a:cubicBezTo>
                  <a:pt x="126467" y="120700"/>
                  <a:pt x="131713" y="132122"/>
                  <a:pt x="127360" y="141982"/>
                </a:cubicBezTo>
                <a:lnTo>
                  <a:pt x="106300" y="189384"/>
                </a:lnTo>
                <a:cubicBezTo>
                  <a:pt x="103622" y="195411"/>
                  <a:pt x="96589" y="198090"/>
                  <a:pt x="90599" y="195411"/>
                </a:cubicBezTo>
                <a:cubicBezTo>
                  <a:pt x="84609" y="192732"/>
                  <a:pt x="81893" y="185700"/>
                  <a:pt x="84572" y="179710"/>
                </a:cubicBezTo>
                <a:lnTo>
                  <a:pt x="102877" y="138485"/>
                </a:lnTo>
                <a:lnTo>
                  <a:pt x="67196" y="127769"/>
                </a:lnTo>
                <a:cubicBezTo>
                  <a:pt x="55029" y="124123"/>
                  <a:pt x="47848" y="111509"/>
                  <a:pt x="50936" y="99194"/>
                </a:cubicBezTo>
                <a:lnTo>
                  <a:pt x="59382" y="65484"/>
                </a:lnTo>
                <a:lnTo>
                  <a:pt x="46025" y="65484"/>
                </a:lnTo>
                <a:close/>
                <a:moveTo>
                  <a:pt x="43011" y="132829"/>
                </a:moveTo>
                <a:cubicBezTo>
                  <a:pt x="47960" y="138373"/>
                  <a:pt x="54434" y="142615"/>
                  <a:pt x="62061" y="144884"/>
                </a:cubicBezTo>
                <a:lnTo>
                  <a:pt x="63810" y="145405"/>
                </a:lnTo>
                <a:lnTo>
                  <a:pt x="61243" y="152586"/>
                </a:lnTo>
                <a:cubicBezTo>
                  <a:pt x="59085" y="158651"/>
                  <a:pt x="55290" y="164046"/>
                  <a:pt x="50341" y="168139"/>
                </a:cubicBezTo>
                <a:lnTo>
                  <a:pt x="19683" y="193402"/>
                </a:lnTo>
                <a:cubicBezTo>
                  <a:pt x="14622" y="197569"/>
                  <a:pt x="7107" y="196862"/>
                  <a:pt x="2939" y="191802"/>
                </a:cubicBezTo>
                <a:cubicBezTo>
                  <a:pt x="-1228" y="186742"/>
                  <a:pt x="-521" y="179226"/>
                  <a:pt x="4539" y="175059"/>
                </a:cubicBezTo>
                <a:lnTo>
                  <a:pt x="35198" y="149796"/>
                </a:lnTo>
                <a:cubicBezTo>
                  <a:pt x="36872" y="148419"/>
                  <a:pt x="38100" y="146633"/>
                  <a:pt x="38844" y="144624"/>
                </a:cubicBezTo>
                <a:lnTo>
                  <a:pt x="43011" y="13282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809625" y="5029200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 &amp; Competition Details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1500" y="5572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549592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Sport category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17590" y="5572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0" name="Text 38"/>
          <p:cNvSpPr/>
          <p:nvPr/>
        </p:nvSpPr>
        <p:spPr>
          <a:xfrm>
            <a:off x="4008090" y="54959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Specific event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1500" y="60483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597217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Medal: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Gold/Silver/Bronze/NA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0455" y="1257300"/>
            <a:ext cx="4476750" cy="2533650"/>
          </a:xfrm>
          <a:custGeom>
            <a:avLst/>
            <a:gdLst/>
            <a:ahLst/>
            <a:cxnLst/>
            <a:rect l="l" t="t" r="r" b="b"/>
            <a:pathLst>
              <a:path w="4476750" h="2533650">
                <a:moveTo>
                  <a:pt x="152399" y="0"/>
                </a:moveTo>
                <a:lnTo>
                  <a:pt x="4324351" y="0"/>
                </a:lnTo>
                <a:cubicBezTo>
                  <a:pt x="4408519" y="0"/>
                  <a:pt x="4476750" y="68231"/>
                  <a:pt x="4476750" y="152399"/>
                </a:cubicBezTo>
                <a:lnTo>
                  <a:pt x="4476750" y="2381251"/>
                </a:lnTo>
                <a:cubicBezTo>
                  <a:pt x="4476750" y="2465419"/>
                  <a:pt x="4408519" y="2533650"/>
                  <a:pt x="4324351" y="2533650"/>
                </a:cubicBezTo>
                <a:lnTo>
                  <a:pt x="152399" y="2533650"/>
                </a:lnTo>
                <a:cubicBezTo>
                  <a:pt x="68231" y="2533650"/>
                  <a:pt x="0" y="2465419"/>
                  <a:pt x="0" y="238125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20955" y="144780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Distribution</a:t>
            </a:r>
            <a:endParaRPr lang="en-US" sz="1600" dirty="0"/>
          </a:p>
        </p:txBody>
      </p:sp>
      <p:pic>
        <p:nvPicPr>
          <p:cNvPr id="45" name="Image 0" descr="https://kimi-img.moonshot.cn/pub/slides/26-02-13-06:27:48-d6757p7hvlti25hlmk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20955" y="1790700"/>
            <a:ext cx="4095750" cy="1809750"/>
          </a:xfrm>
          <a:prstGeom prst="roundRect">
            <a:avLst>
              <a:gd name="adj" fmla="val 0"/>
            </a:avLst>
          </a:prstGeom>
        </p:spPr>
      </p:pic>
      <p:sp>
        <p:nvSpPr>
          <p:cNvPr id="46" name="Shape 43"/>
          <p:cNvSpPr/>
          <p:nvPr/>
        </p:nvSpPr>
        <p:spPr>
          <a:xfrm>
            <a:off x="7330455" y="3943350"/>
            <a:ext cx="4476750" cy="2533650"/>
          </a:xfrm>
          <a:custGeom>
            <a:avLst/>
            <a:gdLst/>
            <a:ahLst/>
            <a:cxnLst/>
            <a:rect l="l" t="t" r="r" b="b"/>
            <a:pathLst>
              <a:path w="4476750" h="2533650">
                <a:moveTo>
                  <a:pt x="152399" y="0"/>
                </a:moveTo>
                <a:lnTo>
                  <a:pt x="4324351" y="0"/>
                </a:lnTo>
                <a:cubicBezTo>
                  <a:pt x="4408519" y="0"/>
                  <a:pt x="4476750" y="68231"/>
                  <a:pt x="4476750" y="152399"/>
                </a:cubicBezTo>
                <a:lnTo>
                  <a:pt x="4476750" y="2381251"/>
                </a:lnTo>
                <a:cubicBezTo>
                  <a:pt x="4476750" y="2465419"/>
                  <a:pt x="4408519" y="2533650"/>
                  <a:pt x="4324351" y="2533650"/>
                </a:cubicBezTo>
                <a:lnTo>
                  <a:pt x="152399" y="2533650"/>
                </a:lnTo>
                <a:cubicBezTo>
                  <a:pt x="68231" y="2533650"/>
                  <a:pt x="0" y="2465419"/>
                  <a:pt x="0" y="238125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7520955" y="413385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Completeness</a:t>
            </a:r>
            <a:endParaRPr lang="en-US" sz="1600" dirty="0"/>
          </a:p>
        </p:txBody>
      </p:sp>
      <p:pic>
        <p:nvPicPr>
          <p:cNvPr id="48" name="Image 1" descr="https://kimi-img.moonshot.cn/pub/slides/26-02-13-06:27:48-d6757p6dmaui2d6pa8g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20955" y="4476750"/>
            <a:ext cx="4095750" cy="1809750"/>
          </a:xfrm>
          <a:prstGeom prst="roundRect">
            <a:avLst>
              <a:gd name="adj" fmla="val 0"/>
            </a:avLst>
          </a:prstGeom>
        </p:spPr>
      </p:pic>
      <p:sp>
        <p:nvSpPr>
          <p:cNvPr id="49" name="Text 45"/>
          <p:cNvSpPr/>
          <p:nvPr/>
        </p:nvSpPr>
        <p:spPr>
          <a:xfrm>
            <a:off x="11253116" y="6477000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736" y="329736"/>
            <a:ext cx="11590231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spc="91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Exploratory 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9736" y="593525"/>
            <a:ext cx="11730369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1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from Historical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9736" y="1187051"/>
            <a:ext cx="5671465" cy="2736811"/>
          </a:xfrm>
          <a:custGeom>
            <a:avLst/>
            <a:gdLst/>
            <a:ahLst/>
            <a:cxnLst/>
            <a:rect l="l" t="t" r="r" b="b"/>
            <a:pathLst>
              <a:path w="5671465" h="2736811">
                <a:moveTo>
                  <a:pt x="131887" y="0"/>
                </a:moveTo>
                <a:lnTo>
                  <a:pt x="5539578" y="0"/>
                </a:lnTo>
                <a:cubicBezTo>
                  <a:pt x="5612417" y="0"/>
                  <a:pt x="5671465" y="59048"/>
                  <a:pt x="5671465" y="131887"/>
                </a:cubicBezTo>
                <a:lnTo>
                  <a:pt x="5671465" y="2604924"/>
                </a:lnTo>
                <a:cubicBezTo>
                  <a:pt x="5671465" y="2677764"/>
                  <a:pt x="5612417" y="2736811"/>
                  <a:pt x="5539578" y="2736811"/>
                </a:cubicBezTo>
                <a:lnTo>
                  <a:pt x="131887" y="2736811"/>
                </a:lnTo>
                <a:cubicBezTo>
                  <a:pt x="59048" y="2736811"/>
                  <a:pt x="0" y="2677764"/>
                  <a:pt x="0" y="2604924"/>
                </a:cubicBezTo>
                <a:lnTo>
                  <a:pt x="0" y="131887"/>
                </a:lnTo>
                <a:cubicBezTo>
                  <a:pt x="0" y="59097"/>
                  <a:pt x="59097" y="0"/>
                  <a:pt x="1318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730" dist="8243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578" y="1384892"/>
            <a:ext cx="535821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Olympic Participation Over Time</a:t>
            </a:r>
            <a:endParaRPr lang="en-US" sz="1600" dirty="0"/>
          </a:p>
        </p:txBody>
      </p:sp>
      <p:pic>
        <p:nvPicPr>
          <p:cNvPr id="6" name="Image 0" descr="https://kimi-img.moonshot.cn/pub/slides/26-02-13-06:27:48-d6757p5s8fbd2cbvfsq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7578" y="1747602"/>
            <a:ext cx="4451440" cy="1978418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195372" y="1187051"/>
            <a:ext cx="5671465" cy="2736811"/>
          </a:xfrm>
          <a:custGeom>
            <a:avLst/>
            <a:gdLst/>
            <a:ahLst/>
            <a:cxnLst/>
            <a:rect l="l" t="t" r="r" b="b"/>
            <a:pathLst>
              <a:path w="5671465" h="2736811">
                <a:moveTo>
                  <a:pt x="131887" y="0"/>
                </a:moveTo>
                <a:lnTo>
                  <a:pt x="5539578" y="0"/>
                </a:lnTo>
                <a:cubicBezTo>
                  <a:pt x="5612417" y="0"/>
                  <a:pt x="5671465" y="59048"/>
                  <a:pt x="5671465" y="131887"/>
                </a:cubicBezTo>
                <a:lnTo>
                  <a:pt x="5671465" y="2604924"/>
                </a:lnTo>
                <a:cubicBezTo>
                  <a:pt x="5671465" y="2677764"/>
                  <a:pt x="5612417" y="2736811"/>
                  <a:pt x="5539578" y="2736811"/>
                </a:cubicBezTo>
                <a:lnTo>
                  <a:pt x="131887" y="2736811"/>
                </a:lnTo>
                <a:cubicBezTo>
                  <a:pt x="59048" y="2736811"/>
                  <a:pt x="0" y="2677764"/>
                  <a:pt x="0" y="2604924"/>
                </a:cubicBezTo>
                <a:lnTo>
                  <a:pt x="0" y="131887"/>
                </a:lnTo>
                <a:cubicBezTo>
                  <a:pt x="0" y="59097"/>
                  <a:pt x="59097" y="0"/>
                  <a:pt x="1318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730" dist="8243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93213" y="1384892"/>
            <a:ext cx="535821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Medal Distribution by Season</a:t>
            </a:r>
            <a:endParaRPr lang="en-US" sz="1600" dirty="0"/>
          </a:p>
        </p:txBody>
      </p:sp>
      <p:pic>
        <p:nvPicPr>
          <p:cNvPr id="9" name="Image 1" descr="https://kimi-img.moonshot.cn/pub/slides/26-02-13-06:27:48-d6757p3eqfpcq5lddvb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93213" y="1747602"/>
            <a:ext cx="4451440" cy="1978418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329736" y="4121704"/>
            <a:ext cx="5671465" cy="2736811"/>
          </a:xfrm>
          <a:custGeom>
            <a:avLst/>
            <a:gdLst/>
            <a:ahLst/>
            <a:cxnLst/>
            <a:rect l="l" t="t" r="r" b="b"/>
            <a:pathLst>
              <a:path w="5671465" h="2736811">
                <a:moveTo>
                  <a:pt x="131887" y="0"/>
                </a:moveTo>
                <a:lnTo>
                  <a:pt x="5539578" y="0"/>
                </a:lnTo>
                <a:cubicBezTo>
                  <a:pt x="5612417" y="0"/>
                  <a:pt x="5671465" y="59048"/>
                  <a:pt x="5671465" y="131887"/>
                </a:cubicBezTo>
                <a:lnTo>
                  <a:pt x="5671465" y="2604924"/>
                </a:lnTo>
                <a:cubicBezTo>
                  <a:pt x="5671465" y="2677764"/>
                  <a:pt x="5612417" y="2736811"/>
                  <a:pt x="5539578" y="2736811"/>
                </a:cubicBezTo>
                <a:lnTo>
                  <a:pt x="131887" y="2736811"/>
                </a:lnTo>
                <a:cubicBezTo>
                  <a:pt x="59048" y="2736811"/>
                  <a:pt x="0" y="2677764"/>
                  <a:pt x="0" y="2604924"/>
                </a:cubicBezTo>
                <a:lnTo>
                  <a:pt x="0" y="131887"/>
                </a:lnTo>
                <a:cubicBezTo>
                  <a:pt x="0" y="59097"/>
                  <a:pt x="59097" y="0"/>
                  <a:pt x="1318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730" dist="8243" dir="5400000">
              <a:srgbClr val="000000">
                <a:alpha val="10196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27578" y="4319546"/>
            <a:ext cx="535821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Medal-Winning Nations</a:t>
            </a:r>
            <a:endParaRPr lang="en-US" sz="1600" dirty="0"/>
          </a:p>
        </p:txBody>
      </p:sp>
      <p:pic>
        <p:nvPicPr>
          <p:cNvPr id="12" name="Image 2" descr="https://kimi-img.moonshot.cn/pub/slides/26-02-13-06:27:48-d6757p6n3mkarbnrdc0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7578" y="4682256"/>
            <a:ext cx="4451440" cy="1978418"/>
          </a:xfrm>
          <a:prstGeom prst="roundRect">
            <a:avLst>
              <a:gd name="adj" fmla="val 0"/>
            </a:avLst>
          </a:prstGeom>
        </p:spPr>
      </p:pic>
      <p:sp>
        <p:nvSpPr>
          <p:cNvPr id="13" name="Shape 8"/>
          <p:cNvSpPr/>
          <p:nvPr/>
        </p:nvSpPr>
        <p:spPr>
          <a:xfrm>
            <a:off x="6195372" y="4121704"/>
            <a:ext cx="5671465" cy="2736811"/>
          </a:xfrm>
          <a:custGeom>
            <a:avLst/>
            <a:gdLst/>
            <a:ahLst/>
            <a:cxnLst/>
            <a:rect l="l" t="t" r="r" b="b"/>
            <a:pathLst>
              <a:path w="5671465" h="2736811">
                <a:moveTo>
                  <a:pt x="131887" y="0"/>
                </a:moveTo>
                <a:lnTo>
                  <a:pt x="5539578" y="0"/>
                </a:lnTo>
                <a:cubicBezTo>
                  <a:pt x="5612417" y="0"/>
                  <a:pt x="5671465" y="59048"/>
                  <a:pt x="5671465" y="131887"/>
                </a:cubicBezTo>
                <a:lnTo>
                  <a:pt x="5671465" y="2604924"/>
                </a:lnTo>
                <a:cubicBezTo>
                  <a:pt x="5671465" y="2677764"/>
                  <a:pt x="5612417" y="2736811"/>
                  <a:pt x="5539578" y="2736811"/>
                </a:cubicBezTo>
                <a:lnTo>
                  <a:pt x="131887" y="2736811"/>
                </a:lnTo>
                <a:cubicBezTo>
                  <a:pt x="59048" y="2736811"/>
                  <a:pt x="0" y="2677764"/>
                  <a:pt x="0" y="2604924"/>
                </a:cubicBezTo>
                <a:lnTo>
                  <a:pt x="0" y="131887"/>
                </a:lnTo>
                <a:cubicBezTo>
                  <a:pt x="0" y="59097"/>
                  <a:pt x="59097" y="0"/>
                  <a:pt x="1318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730" dist="8243" dir="5400000">
              <a:srgbClr val="000000">
                <a:alpha val="10196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393213" y="4319546"/>
            <a:ext cx="535821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393213" y="4929558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65947" y="0"/>
                </a:moveTo>
                <a:lnTo>
                  <a:pt x="197842" y="0"/>
                </a:lnTo>
                <a:cubicBezTo>
                  <a:pt x="234239" y="0"/>
                  <a:pt x="263789" y="29550"/>
                  <a:pt x="263789" y="65947"/>
                </a:cubicBezTo>
                <a:lnTo>
                  <a:pt x="263789" y="197842"/>
                </a:lnTo>
                <a:cubicBezTo>
                  <a:pt x="263789" y="234239"/>
                  <a:pt x="234239" y="263789"/>
                  <a:pt x="197842" y="263789"/>
                </a:cubicBezTo>
                <a:lnTo>
                  <a:pt x="65947" y="263789"/>
                </a:lnTo>
                <a:cubicBezTo>
                  <a:pt x="29550" y="263789"/>
                  <a:pt x="0" y="234239"/>
                  <a:pt x="0" y="197842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6469465" y="5003748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14426" y="14426"/>
                </a:moveTo>
                <a:cubicBezTo>
                  <a:pt x="14426" y="10436"/>
                  <a:pt x="11203" y="7213"/>
                  <a:pt x="7213" y="7213"/>
                </a:cubicBezTo>
                <a:cubicBezTo>
                  <a:pt x="3223" y="7213"/>
                  <a:pt x="0" y="10436"/>
                  <a:pt x="0" y="14426"/>
                </a:cubicBezTo>
                <a:lnTo>
                  <a:pt x="0" y="90162"/>
                </a:lnTo>
                <a:cubicBezTo>
                  <a:pt x="0" y="100125"/>
                  <a:pt x="8070" y="108195"/>
                  <a:pt x="18032" y="108195"/>
                </a:cubicBezTo>
                <a:lnTo>
                  <a:pt x="108195" y="108195"/>
                </a:lnTo>
                <a:cubicBezTo>
                  <a:pt x="112184" y="108195"/>
                  <a:pt x="115408" y="104971"/>
                  <a:pt x="115408" y="100982"/>
                </a:cubicBezTo>
                <a:cubicBezTo>
                  <a:pt x="115408" y="96992"/>
                  <a:pt x="112184" y="93769"/>
                  <a:pt x="108195" y="93769"/>
                </a:cubicBezTo>
                <a:lnTo>
                  <a:pt x="18032" y="93769"/>
                </a:lnTo>
                <a:cubicBezTo>
                  <a:pt x="16049" y="93769"/>
                  <a:pt x="14426" y="92146"/>
                  <a:pt x="14426" y="90162"/>
                </a:cubicBezTo>
                <a:lnTo>
                  <a:pt x="14426" y="14426"/>
                </a:lnTo>
                <a:close/>
                <a:moveTo>
                  <a:pt x="106076" y="33946"/>
                </a:moveTo>
                <a:cubicBezTo>
                  <a:pt x="108893" y="31129"/>
                  <a:pt x="108893" y="26553"/>
                  <a:pt x="106076" y="23735"/>
                </a:cubicBezTo>
                <a:cubicBezTo>
                  <a:pt x="103258" y="20918"/>
                  <a:pt x="98683" y="20918"/>
                  <a:pt x="95865" y="23735"/>
                </a:cubicBezTo>
                <a:lnTo>
                  <a:pt x="72130" y="47493"/>
                </a:lnTo>
                <a:lnTo>
                  <a:pt x="59192" y="34577"/>
                </a:lnTo>
                <a:cubicBezTo>
                  <a:pt x="56374" y="31760"/>
                  <a:pt x="51798" y="31760"/>
                  <a:pt x="48981" y="34577"/>
                </a:cubicBezTo>
                <a:lnTo>
                  <a:pt x="27342" y="56216"/>
                </a:lnTo>
                <a:cubicBezTo>
                  <a:pt x="24524" y="59034"/>
                  <a:pt x="24524" y="63609"/>
                  <a:pt x="27342" y="66427"/>
                </a:cubicBezTo>
                <a:cubicBezTo>
                  <a:pt x="30159" y="69245"/>
                  <a:pt x="34735" y="69245"/>
                  <a:pt x="37553" y="66427"/>
                </a:cubicBezTo>
                <a:lnTo>
                  <a:pt x="54097" y="49882"/>
                </a:lnTo>
                <a:lnTo>
                  <a:pt x="67036" y="62821"/>
                </a:lnTo>
                <a:cubicBezTo>
                  <a:pt x="69853" y="65638"/>
                  <a:pt x="74429" y="65638"/>
                  <a:pt x="77247" y="62821"/>
                </a:cubicBezTo>
                <a:lnTo>
                  <a:pt x="106098" y="3396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2"/>
          <p:cNvSpPr/>
          <p:nvPr/>
        </p:nvSpPr>
        <p:spPr>
          <a:xfrm>
            <a:off x="6755923" y="4896584"/>
            <a:ext cx="4979018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Participation Growth: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Athlete participation increased 10x from 1900 to 2016, reflecting global Olympic expansion.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393213" y="5490110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65947" y="0"/>
                </a:moveTo>
                <a:lnTo>
                  <a:pt x="197842" y="0"/>
                </a:lnTo>
                <a:cubicBezTo>
                  <a:pt x="234239" y="0"/>
                  <a:pt x="263789" y="29550"/>
                  <a:pt x="263789" y="65947"/>
                </a:cubicBezTo>
                <a:lnTo>
                  <a:pt x="263789" y="197842"/>
                </a:lnTo>
                <a:cubicBezTo>
                  <a:pt x="263789" y="234239"/>
                  <a:pt x="234239" y="263789"/>
                  <a:pt x="197842" y="263789"/>
                </a:cubicBezTo>
                <a:lnTo>
                  <a:pt x="65947" y="263789"/>
                </a:lnTo>
                <a:cubicBezTo>
                  <a:pt x="29550" y="263789"/>
                  <a:pt x="0" y="234239"/>
                  <a:pt x="0" y="197842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455039" y="5564300"/>
            <a:ext cx="144260" cy="115408"/>
          </a:xfrm>
          <a:custGeom>
            <a:avLst/>
            <a:gdLst/>
            <a:ahLst/>
            <a:cxnLst/>
            <a:rect l="l" t="t" r="r" b="b"/>
            <a:pathLst>
              <a:path w="144260" h="115408">
                <a:moveTo>
                  <a:pt x="86556" y="7213"/>
                </a:moveTo>
                <a:lnTo>
                  <a:pt x="115408" y="7213"/>
                </a:lnTo>
                <a:cubicBezTo>
                  <a:pt x="119397" y="7213"/>
                  <a:pt x="122621" y="10436"/>
                  <a:pt x="122621" y="14426"/>
                </a:cubicBezTo>
                <a:cubicBezTo>
                  <a:pt x="122621" y="18416"/>
                  <a:pt x="119397" y="21639"/>
                  <a:pt x="115408" y="21639"/>
                </a:cubicBezTo>
                <a:lnTo>
                  <a:pt x="89802" y="21639"/>
                </a:lnTo>
                <a:cubicBezTo>
                  <a:pt x="88630" y="27454"/>
                  <a:pt x="84640" y="32256"/>
                  <a:pt x="79343" y="34555"/>
                </a:cubicBezTo>
                <a:lnTo>
                  <a:pt x="79343" y="100982"/>
                </a:lnTo>
                <a:lnTo>
                  <a:pt x="115408" y="100982"/>
                </a:lnTo>
                <a:cubicBezTo>
                  <a:pt x="119397" y="100982"/>
                  <a:pt x="122621" y="104205"/>
                  <a:pt x="122621" y="108195"/>
                </a:cubicBezTo>
                <a:cubicBezTo>
                  <a:pt x="122621" y="112184"/>
                  <a:pt x="119397" y="115408"/>
                  <a:pt x="115408" y="115408"/>
                </a:cubicBezTo>
                <a:lnTo>
                  <a:pt x="28852" y="115408"/>
                </a:lnTo>
                <a:cubicBezTo>
                  <a:pt x="24862" y="115408"/>
                  <a:pt x="21639" y="112184"/>
                  <a:pt x="21639" y="108195"/>
                </a:cubicBezTo>
                <a:cubicBezTo>
                  <a:pt x="21639" y="104205"/>
                  <a:pt x="24862" y="100982"/>
                  <a:pt x="28852" y="100982"/>
                </a:cubicBezTo>
                <a:lnTo>
                  <a:pt x="64917" y="100982"/>
                </a:lnTo>
                <a:lnTo>
                  <a:pt x="64917" y="34555"/>
                </a:lnTo>
                <a:cubicBezTo>
                  <a:pt x="59620" y="32233"/>
                  <a:pt x="55630" y="27432"/>
                  <a:pt x="54458" y="21639"/>
                </a:cubicBezTo>
                <a:lnTo>
                  <a:pt x="28852" y="21639"/>
                </a:lnTo>
                <a:cubicBezTo>
                  <a:pt x="24862" y="21639"/>
                  <a:pt x="21639" y="18416"/>
                  <a:pt x="21639" y="14426"/>
                </a:cubicBezTo>
                <a:cubicBezTo>
                  <a:pt x="21639" y="10436"/>
                  <a:pt x="24862" y="7213"/>
                  <a:pt x="28852" y="7213"/>
                </a:cubicBezTo>
                <a:lnTo>
                  <a:pt x="57704" y="7213"/>
                </a:lnTo>
                <a:cubicBezTo>
                  <a:pt x="60995" y="2840"/>
                  <a:pt x="66224" y="0"/>
                  <a:pt x="72130" y="0"/>
                </a:cubicBezTo>
                <a:cubicBezTo>
                  <a:pt x="78035" y="0"/>
                  <a:pt x="83265" y="2840"/>
                  <a:pt x="86556" y="7213"/>
                </a:cubicBezTo>
                <a:close/>
                <a:moveTo>
                  <a:pt x="99088" y="72130"/>
                </a:moveTo>
                <a:lnTo>
                  <a:pt x="131727" y="72130"/>
                </a:lnTo>
                <a:lnTo>
                  <a:pt x="115408" y="44134"/>
                </a:lnTo>
                <a:lnTo>
                  <a:pt x="99088" y="72130"/>
                </a:lnTo>
                <a:close/>
                <a:moveTo>
                  <a:pt x="115408" y="93769"/>
                </a:moveTo>
                <a:cubicBezTo>
                  <a:pt x="101230" y="93769"/>
                  <a:pt x="89441" y="86105"/>
                  <a:pt x="87007" y="75984"/>
                </a:cubicBezTo>
                <a:cubicBezTo>
                  <a:pt x="86421" y="73505"/>
                  <a:pt x="87232" y="70958"/>
                  <a:pt x="88517" y="68749"/>
                </a:cubicBezTo>
                <a:lnTo>
                  <a:pt x="109975" y="31963"/>
                </a:lnTo>
                <a:cubicBezTo>
                  <a:pt x="111102" y="30024"/>
                  <a:pt x="113176" y="28852"/>
                  <a:pt x="115408" y="28852"/>
                </a:cubicBezTo>
                <a:cubicBezTo>
                  <a:pt x="117639" y="28852"/>
                  <a:pt x="119713" y="30047"/>
                  <a:pt x="120840" y="31963"/>
                </a:cubicBezTo>
                <a:lnTo>
                  <a:pt x="142299" y="68749"/>
                </a:lnTo>
                <a:cubicBezTo>
                  <a:pt x="143583" y="70958"/>
                  <a:pt x="144395" y="73505"/>
                  <a:pt x="143809" y="75984"/>
                </a:cubicBezTo>
                <a:cubicBezTo>
                  <a:pt x="141374" y="86082"/>
                  <a:pt x="129586" y="93769"/>
                  <a:pt x="115408" y="93769"/>
                </a:cubicBezTo>
                <a:close/>
                <a:moveTo>
                  <a:pt x="28581" y="44134"/>
                </a:moveTo>
                <a:lnTo>
                  <a:pt x="12262" y="72130"/>
                </a:lnTo>
                <a:lnTo>
                  <a:pt x="44923" y="72130"/>
                </a:lnTo>
                <a:lnTo>
                  <a:pt x="28581" y="44134"/>
                </a:lnTo>
                <a:close/>
                <a:moveTo>
                  <a:pt x="203" y="75984"/>
                </a:moveTo>
                <a:cubicBezTo>
                  <a:pt x="-383" y="73505"/>
                  <a:pt x="428" y="70958"/>
                  <a:pt x="1713" y="68749"/>
                </a:cubicBezTo>
                <a:lnTo>
                  <a:pt x="23172" y="31963"/>
                </a:lnTo>
                <a:cubicBezTo>
                  <a:pt x="24299" y="30024"/>
                  <a:pt x="26372" y="28852"/>
                  <a:pt x="28604" y="28852"/>
                </a:cubicBezTo>
                <a:cubicBezTo>
                  <a:pt x="30835" y="28852"/>
                  <a:pt x="32909" y="30047"/>
                  <a:pt x="34036" y="31963"/>
                </a:cubicBezTo>
                <a:lnTo>
                  <a:pt x="55495" y="68749"/>
                </a:lnTo>
                <a:cubicBezTo>
                  <a:pt x="56780" y="70958"/>
                  <a:pt x="57591" y="73505"/>
                  <a:pt x="57005" y="75984"/>
                </a:cubicBezTo>
                <a:cubicBezTo>
                  <a:pt x="54571" y="86082"/>
                  <a:pt x="42782" y="93769"/>
                  <a:pt x="28604" y="93769"/>
                </a:cubicBezTo>
                <a:cubicBezTo>
                  <a:pt x="14426" y="93769"/>
                  <a:pt x="2637" y="86105"/>
                  <a:pt x="203" y="7598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5"/>
          <p:cNvSpPr/>
          <p:nvPr/>
        </p:nvSpPr>
        <p:spPr>
          <a:xfrm>
            <a:off x="6755923" y="5457136"/>
            <a:ext cx="4979018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Dominance: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Summer Olympics account for 82% of all events, offering more medal opportunities.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393213" y="6050661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65947" y="0"/>
                </a:moveTo>
                <a:lnTo>
                  <a:pt x="197842" y="0"/>
                </a:lnTo>
                <a:cubicBezTo>
                  <a:pt x="234239" y="0"/>
                  <a:pt x="263789" y="29550"/>
                  <a:pt x="263789" y="65947"/>
                </a:cubicBezTo>
                <a:lnTo>
                  <a:pt x="263789" y="197842"/>
                </a:lnTo>
                <a:cubicBezTo>
                  <a:pt x="263789" y="234239"/>
                  <a:pt x="234239" y="263789"/>
                  <a:pt x="197842" y="263789"/>
                </a:cubicBezTo>
                <a:lnTo>
                  <a:pt x="65947" y="263789"/>
                </a:lnTo>
                <a:cubicBezTo>
                  <a:pt x="29550" y="263789"/>
                  <a:pt x="0" y="234239"/>
                  <a:pt x="0" y="197842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6469465" y="6124852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79320" y="63114"/>
                </a:moveTo>
                <a:lnTo>
                  <a:pt x="36290" y="63114"/>
                </a:lnTo>
                <a:cubicBezTo>
                  <a:pt x="36944" y="77652"/>
                  <a:pt x="40167" y="91041"/>
                  <a:pt x="44743" y="100847"/>
                </a:cubicBezTo>
                <a:cubicBezTo>
                  <a:pt x="47313" y="106369"/>
                  <a:pt x="50085" y="110268"/>
                  <a:pt x="52655" y="112658"/>
                </a:cubicBezTo>
                <a:cubicBezTo>
                  <a:pt x="55179" y="115025"/>
                  <a:pt x="56915" y="115408"/>
                  <a:pt x="57817" y="115408"/>
                </a:cubicBezTo>
                <a:cubicBezTo>
                  <a:pt x="58718" y="115408"/>
                  <a:pt x="60454" y="115025"/>
                  <a:pt x="62978" y="112658"/>
                </a:cubicBezTo>
                <a:cubicBezTo>
                  <a:pt x="65548" y="110268"/>
                  <a:pt x="68320" y="106346"/>
                  <a:pt x="70890" y="100847"/>
                </a:cubicBezTo>
                <a:cubicBezTo>
                  <a:pt x="75466" y="91041"/>
                  <a:pt x="78689" y="77652"/>
                  <a:pt x="79343" y="63114"/>
                </a:cubicBezTo>
                <a:close/>
                <a:moveTo>
                  <a:pt x="36268" y="52294"/>
                </a:moveTo>
                <a:lnTo>
                  <a:pt x="79298" y="52294"/>
                </a:lnTo>
                <a:cubicBezTo>
                  <a:pt x="78667" y="37755"/>
                  <a:pt x="75443" y="24366"/>
                  <a:pt x="70868" y="14561"/>
                </a:cubicBezTo>
                <a:cubicBezTo>
                  <a:pt x="68298" y="9061"/>
                  <a:pt x="65525" y="5139"/>
                  <a:pt x="62956" y="2750"/>
                </a:cubicBezTo>
                <a:cubicBezTo>
                  <a:pt x="60431" y="383"/>
                  <a:pt x="58696" y="0"/>
                  <a:pt x="57794" y="0"/>
                </a:cubicBezTo>
                <a:cubicBezTo>
                  <a:pt x="56892" y="0"/>
                  <a:pt x="55157" y="383"/>
                  <a:pt x="52632" y="2750"/>
                </a:cubicBezTo>
                <a:cubicBezTo>
                  <a:pt x="50063" y="5139"/>
                  <a:pt x="47290" y="9061"/>
                  <a:pt x="44720" y="14561"/>
                </a:cubicBezTo>
                <a:cubicBezTo>
                  <a:pt x="40145" y="24366"/>
                  <a:pt x="36921" y="37755"/>
                  <a:pt x="36268" y="52294"/>
                </a:cubicBezTo>
                <a:close/>
                <a:moveTo>
                  <a:pt x="25448" y="52294"/>
                </a:moveTo>
                <a:cubicBezTo>
                  <a:pt x="26237" y="32999"/>
                  <a:pt x="31219" y="15080"/>
                  <a:pt x="38499" y="3313"/>
                </a:cubicBezTo>
                <a:cubicBezTo>
                  <a:pt x="17739" y="10662"/>
                  <a:pt x="2457" y="29573"/>
                  <a:pt x="338" y="52294"/>
                </a:cubicBezTo>
                <a:lnTo>
                  <a:pt x="25448" y="52294"/>
                </a:lnTo>
                <a:close/>
                <a:moveTo>
                  <a:pt x="338" y="63114"/>
                </a:moveTo>
                <a:cubicBezTo>
                  <a:pt x="2457" y="85834"/>
                  <a:pt x="17739" y="104746"/>
                  <a:pt x="38499" y="112094"/>
                </a:cubicBezTo>
                <a:cubicBezTo>
                  <a:pt x="31219" y="100328"/>
                  <a:pt x="26237" y="82408"/>
                  <a:pt x="25448" y="63114"/>
                </a:cubicBezTo>
                <a:lnTo>
                  <a:pt x="338" y="63114"/>
                </a:lnTo>
                <a:close/>
                <a:moveTo>
                  <a:pt x="90140" y="63114"/>
                </a:moveTo>
                <a:cubicBezTo>
                  <a:pt x="89351" y="82408"/>
                  <a:pt x="84369" y="100328"/>
                  <a:pt x="77089" y="112094"/>
                </a:cubicBezTo>
                <a:cubicBezTo>
                  <a:pt x="97849" y="104723"/>
                  <a:pt x="113131" y="85834"/>
                  <a:pt x="115250" y="63114"/>
                </a:cubicBezTo>
                <a:lnTo>
                  <a:pt x="90140" y="63114"/>
                </a:lnTo>
                <a:close/>
                <a:moveTo>
                  <a:pt x="115250" y="52294"/>
                </a:moveTo>
                <a:cubicBezTo>
                  <a:pt x="113131" y="29573"/>
                  <a:pt x="97849" y="10662"/>
                  <a:pt x="77089" y="3313"/>
                </a:cubicBezTo>
                <a:cubicBezTo>
                  <a:pt x="84369" y="15080"/>
                  <a:pt x="89351" y="32999"/>
                  <a:pt x="90140" y="52294"/>
                </a:cubicBezTo>
                <a:lnTo>
                  <a:pt x="115250" y="5229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18"/>
          <p:cNvSpPr/>
          <p:nvPr/>
        </p:nvSpPr>
        <p:spPr>
          <a:xfrm>
            <a:off x="6755923" y="6017688"/>
            <a:ext cx="4979018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Concentration: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10 nations win 65% of medals, showing historical concentration.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1292590" y="6446345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0789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spc="103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&amp; Preprocessing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74730"/>
            <a:ext cx="11667210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50" y="1415282"/>
            <a:ext cx="5613380" cy="5368275"/>
          </a:xfrm>
          <a:custGeom>
            <a:avLst/>
            <a:gdLst/>
            <a:ahLst/>
            <a:cxnLst/>
            <a:rect l="l" t="t" r="r" b="b"/>
            <a:pathLst>
              <a:path w="5613380" h="5368275">
                <a:moveTo>
                  <a:pt x="149935" y="0"/>
                </a:moveTo>
                <a:lnTo>
                  <a:pt x="5463445" y="0"/>
                </a:lnTo>
                <a:cubicBezTo>
                  <a:pt x="5546252" y="0"/>
                  <a:pt x="5613380" y="65398"/>
                  <a:pt x="5613380" y="146071"/>
                </a:cubicBezTo>
                <a:lnTo>
                  <a:pt x="5613380" y="5222204"/>
                </a:lnTo>
                <a:cubicBezTo>
                  <a:pt x="5613380" y="5302877"/>
                  <a:pt x="5546252" y="5368275"/>
                  <a:pt x="5463445" y="5368275"/>
                </a:cubicBezTo>
                <a:lnTo>
                  <a:pt x="149935" y="5368275"/>
                </a:lnTo>
                <a:cubicBezTo>
                  <a:pt x="67128" y="5368275"/>
                  <a:pt x="0" y="5302877"/>
                  <a:pt x="0" y="5222204"/>
                </a:cubicBezTo>
                <a:lnTo>
                  <a:pt x="0" y="146071"/>
                </a:lnTo>
                <a:cubicBezTo>
                  <a:pt x="0" y="65452"/>
                  <a:pt x="67184" y="0"/>
                  <a:pt x="14993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114" dist="9371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9760" y="1574370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49700" y="1724311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0"/>
                </a:moveTo>
                <a:cubicBezTo>
                  <a:pt x="118912" y="0"/>
                  <a:pt x="124843" y="3558"/>
                  <a:pt x="127918" y="9225"/>
                </a:cubicBezTo>
                <a:lnTo>
                  <a:pt x="222802" y="184936"/>
                </a:lnTo>
                <a:cubicBezTo>
                  <a:pt x="225745" y="190383"/>
                  <a:pt x="225613" y="196972"/>
                  <a:pt x="222450" y="202287"/>
                </a:cubicBezTo>
                <a:cubicBezTo>
                  <a:pt x="219287" y="207603"/>
                  <a:pt x="213533" y="210853"/>
                  <a:pt x="207339" y="210853"/>
                </a:cubicBezTo>
                <a:lnTo>
                  <a:pt x="17571" y="210853"/>
                </a:lnTo>
                <a:cubicBezTo>
                  <a:pt x="11377" y="210853"/>
                  <a:pt x="5667" y="207603"/>
                  <a:pt x="2460" y="202287"/>
                </a:cubicBezTo>
                <a:cubicBezTo>
                  <a:pt x="-747" y="196972"/>
                  <a:pt x="-835" y="190383"/>
                  <a:pt x="2109" y="184936"/>
                </a:cubicBezTo>
                <a:lnTo>
                  <a:pt x="96992" y="9225"/>
                </a:lnTo>
                <a:cubicBezTo>
                  <a:pt x="100067" y="3558"/>
                  <a:pt x="105998" y="0"/>
                  <a:pt x="112455" y="0"/>
                </a:cubicBezTo>
                <a:close/>
                <a:moveTo>
                  <a:pt x="112455" y="73799"/>
                </a:moveTo>
                <a:cubicBezTo>
                  <a:pt x="106613" y="73799"/>
                  <a:pt x="101912" y="78499"/>
                  <a:pt x="101912" y="84341"/>
                </a:cubicBezTo>
                <a:lnTo>
                  <a:pt x="101912" y="133540"/>
                </a:lnTo>
                <a:cubicBezTo>
                  <a:pt x="101912" y="139383"/>
                  <a:pt x="106613" y="144083"/>
                  <a:pt x="112455" y="144083"/>
                </a:cubicBezTo>
                <a:cubicBezTo>
                  <a:pt x="118297" y="144083"/>
                  <a:pt x="122998" y="139383"/>
                  <a:pt x="122998" y="133540"/>
                </a:cubicBezTo>
                <a:lnTo>
                  <a:pt x="122998" y="84341"/>
                </a:lnTo>
                <a:cubicBezTo>
                  <a:pt x="122998" y="78499"/>
                  <a:pt x="118297" y="73799"/>
                  <a:pt x="112455" y="73799"/>
                </a:cubicBezTo>
                <a:close/>
                <a:moveTo>
                  <a:pt x="124184" y="168683"/>
                </a:moveTo>
                <a:cubicBezTo>
                  <a:pt x="124451" y="164329"/>
                  <a:pt x="122279" y="160187"/>
                  <a:pt x="118547" y="157929"/>
                </a:cubicBezTo>
                <a:cubicBezTo>
                  <a:pt x="114815" y="155672"/>
                  <a:pt x="110139" y="155672"/>
                  <a:pt x="106407" y="157929"/>
                </a:cubicBezTo>
                <a:cubicBezTo>
                  <a:pt x="102675" y="160187"/>
                  <a:pt x="100503" y="164329"/>
                  <a:pt x="100770" y="168683"/>
                </a:cubicBezTo>
                <a:cubicBezTo>
                  <a:pt x="100503" y="173036"/>
                  <a:pt x="102675" y="177178"/>
                  <a:pt x="106407" y="179436"/>
                </a:cubicBezTo>
                <a:cubicBezTo>
                  <a:pt x="110139" y="181693"/>
                  <a:pt x="114815" y="181693"/>
                  <a:pt x="118547" y="179436"/>
                </a:cubicBezTo>
                <a:cubicBezTo>
                  <a:pt x="122279" y="177178"/>
                  <a:pt x="124451" y="173036"/>
                  <a:pt x="124184" y="168683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Text 5"/>
          <p:cNvSpPr/>
          <p:nvPr/>
        </p:nvSpPr>
        <p:spPr>
          <a:xfrm>
            <a:off x="1274490" y="1686826"/>
            <a:ext cx="1996077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Issues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8503" y="2286586"/>
            <a:ext cx="5144818" cy="974610"/>
          </a:xfrm>
          <a:custGeom>
            <a:avLst/>
            <a:gdLst/>
            <a:ahLst/>
            <a:cxnLst/>
            <a:rect l="l" t="t" r="r" b="b"/>
            <a:pathLst>
              <a:path w="5144818" h="974610">
                <a:moveTo>
                  <a:pt x="0" y="0"/>
                </a:moveTo>
                <a:lnTo>
                  <a:pt x="5069851" y="0"/>
                </a:lnTo>
                <a:cubicBezTo>
                  <a:pt x="5111254" y="0"/>
                  <a:pt x="5144818" y="33564"/>
                  <a:pt x="5144818" y="74967"/>
                </a:cubicBezTo>
                <a:lnTo>
                  <a:pt x="5144818" y="899643"/>
                </a:lnTo>
                <a:cubicBezTo>
                  <a:pt x="5144818" y="941046"/>
                  <a:pt x="5111254" y="974610"/>
                  <a:pt x="5069851" y="974610"/>
                </a:cubicBez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18503" y="2286586"/>
            <a:ext cx="37485" cy="974610"/>
          </a:xfrm>
          <a:custGeom>
            <a:avLst/>
            <a:gdLst/>
            <a:ahLst/>
            <a:cxnLst/>
            <a:rect l="l" t="t" r="r" b="b"/>
            <a:pathLst>
              <a:path w="37485" h="974610">
                <a:moveTo>
                  <a:pt x="0" y="0"/>
                </a:moveTo>
                <a:lnTo>
                  <a:pt x="37485" y="0"/>
                </a:lnTo>
                <a:lnTo>
                  <a:pt x="37485" y="974610"/>
                </a:ln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787185" y="2399041"/>
            <a:ext cx="505110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7185" y="2661436"/>
            <a:ext cx="5051105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(3.5%), Height (27.7%), Weight (28.2%) missing. Handled via median imputation by sport and gender.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503" y="3411136"/>
            <a:ext cx="5144818" cy="974610"/>
          </a:xfrm>
          <a:custGeom>
            <a:avLst/>
            <a:gdLst/>
            <a:ahLst/>
            <a:cxnLst/>
            <a:rect l="l" t="t" r="r" b="b"/>
            <a:pathLst>
              <a:path w="5144818" h="974610">
                <a:moveTo>
                  <a:pt x="0" y="0"/>
                </a:moveTo>
                <a:lnTo>
                  <a:pt x="5069851" y="0"/>
                </a:lnTo>
                <a:cubicBezTo>
                  <a:pt x="5111254" y="0"/>
                  <a:pt x="5144818" y="33564"/>
                  <a:pt x="5144818" y="74967"/>
                </a:cubicBezTo>
                <a:lnTo>
                  <a:pt x="5144818" y="899643"/>
                </a:lnTo>
                <a:cubicBezTo>
                  <a:pt x="5144818" y="941046"/>
                  <a:pt x="5111254" y="974610"/>
                  <a:pt x="5069851" y="974610"/>
                </a:cubicBez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8503" y="3411136"/>
            <a:ext cx="37485" cy="974610"/>
          </a:xfrm>
          <a:custGeom>
            <a:avLst/>
            <a:gdLst/>
            <a:ahLst/>
            <a:cxnLst/>
            <a:rect l="l" t="t" r="r" b="b"/>
            <a:pathLst>
              <a:path w="37485" h="974610">
                <a:moveTo>
                  <a:pt x="0" y="0"/>
                </a:moveTo>
                <a:lnTo>
                  <a:pt x="37485" y="0"/>
                </a:lnTo>
                <a:lnTo>
                  <a:pt x="37485" y="974610"/>
                </a:ln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787185" y="3523591"/>
            <a:ext cx="505110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Entries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185" y="3785986"/>
            <a:ext cx="5051105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Athletes competing in multiple events create duplicate rows. Each event treated as independent observation.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503" y="4535686"/>
            <a:ext cx="5144818" cy="974610"/>
          </a:xfrm>
          <a:custGeom>
            <a:avLst/>
            <a:gdLst/>
            <a:ahLst/>
            <a:cxnLst/>
            <a:rect l="l" t="t" r="r" b="b"/>
            <a:pathLst>
              <a:path w="5144818" h="974610">
                <a:moveTo>
                  <a:pt x="0" y="0"/>
                </a:moveTo>
                <a:lnTo>
                  <a:pt x="5069851" y="0"/>
                </a:lnTo>
                <a:cubicBezTo>
                  <a:pt x="5111254" y="0"/>
                  <a:pt x="5144818" y="33564"/>
                  <a:pt x="5144818" y="74967"/>
                </a:cubicBezTo>
                <a:lnTo>
                  <a:pt x="5144818" y="899643"/>
                </a:lnTo>
                <a:cubicBezTo>
                  <a:pt x="5144818" y="941046"/>
                  <a:pt x="5111254" y="974610"/>
                  <a:pt x="5069851" y="974610"/>
                </a:cubicBez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8503" y="4535686"/>
            <a:ext cx="37485" cy="974610"/>
          </a:xfrm>
          <a:custGeom>
            <a:avLst/>
            <a:gdLst/>
            <a:ahLst/>
            <a:cxnLst/>
            <a:rect l="l" t="t" r="r" b="b"/>
            <a:pathLst>
              <a:path w="37485" h="974610">
                <a:moveTo>
                  <a:pt x="0" y="0"/>
                </a:moveTo>
                <a:lnTo>
                  <a:pt x="37485" y="0"/>
                </a:lnTo>
                <a:lnTo>
                  <a:pt x="37485" y="974610"/>
                </a:ln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8" name="Text 16"/>
          <p:cNvSpPr/>
          <p:nvPr/>
        </p:nvSpPr>
        <p:spPr>
          <a:xfrm>
            <a:off x="787185" y="4648141"/>
            <a:ext cx="505110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7185" y="4910537"/>
            <a:ext cx="5051105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8.2% of records are medal winners. Addressed using SMOTE oversampling and class weights.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503" y="5660237"/>
            <a:ext cx="5144818" cy="974610"/>
          </a:xfrm>
          <a:custGeom>
            <a:avLst/>
            <a:gdLst/>
            <a:ahLst/>
            <a:cxnLst/>
            <a:rect l="l" t="t" r="r" b="b"/>
            <a:pathLst>
              <a:path w="5144818" h="974610">
                <a:moveTo>
                  <a:pt x="0" y="0"/>
                </a:moveTo>
                <a:lnTo>
                  <a:pt x="5069851" y="0"/>
                </a:lnTo>
                <a:cubicBezTo>
                  <a:pt x="5111254" y="0"/>
                  <a:pt x="5144818" y="33564"/>
                  <a:pt x="5144818" y="74967"/>
                </a:cubicBezTo>
                <a:lnTo>
                  <a:pt x="5144818" y="899643"/>
                </a:lnTo>
                <a:cubicBezTo>
                  <a:pt x="5144818" y="941046"/>
                  <a:pt x="5111254" y="974610"/>
                  <a:pt x="5069851" y="974610"/>
                </a:cubicBez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8503" y="5660237"/>
            <a:ext cx="37485" cy="974610"/>
          </a:xfrm>
          <a:custGeom>
            <a:avLst/>
            <a:gdLst/>
            <a:ahLst/>
            <a:cxnLst/>
            <a:rect l="l" t="t" r="r" b="b"/>
            <a:pathLst>
              <a:path w="37485" h="974610">
                <a:moveTo>
                  <a:pt x="0" y="0"/>
                </a:moveTo>
                <a:lnTo>
                  <a:pt x="37485" y="0"/>
                </a:lnTo>
                <a:lnTo>
                  <a:pt x="37485" y="974610"/>
                </a:lnTo>
                <a:lnTo>
                  <a:pt x="0" y="974610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787185" y="5772692"/>
            <a:ext cx="505110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Sports Complexity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7185" y="6035087"/>
            <a:ext cx="5051105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sports have multiple athletes per medal. Aggregated team-level features to avoid data leakage.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9993" y="1415282"/>
            <a:ext cx="5613380" cy="5355575"/>
          </a:xfrm>
          <a:custGeom>
            <a:avLst/>
            <a:gdLst/>
            <a:ahLst/>
            <a:cxnLst/>
            <a:rect l="l" t="t" r="r" b="b"/>
            <a:pathLst>
              <a:path w="5613380" h="5355575">
                <a:moveTo>
                  <a:pt x="149935" y="0"/>
                </a:moveTo>
                <a:lnTo>
                  <a:pt x="5463445" y="0"/>
                </a:lnTo>
                <a:cubicBezTo>
                  <a:pt x="5546252" y="0"/>
                  <a:pt x="5613380" y="65243"/>
                  <a:pt x="5613380" y="145725"/>
                </a:cubicBezTo>
                <a:lnTo>
                  <a:pt x="5613380" y="5209850"/>
                </a:lnTo>
                <a:cubicBezTo>
                  <a:pt x="5613380" y="5290332"/>
                  <a:pt x="5546252" y="5355575"/>
                  <a:pt x="5463445" y="5355575"/>
                </a:cubicBezTo>
                <a:lnTo>
                  <a:pt x="149935" y="5355575"/>
                </a:lnTo>
                <a:cubicBezTo>
                  <a:pt x="67128" y="5355575"/>
                  <a:pt x="0" y="5290332"/>
                  <a:pt x="0" y="5209850"/>
                </a:cubicBezTo>
                <a:lnTo>
                  <a:pt x="0" y="145725"/>
                </a:lnTo>
                <a:cubicBezTo>
                  <a:pt x="0" y="65297"/>
                  <a:pt x="67184" y="0"/>
                  <a:pt x="14993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114" dist="9371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4903" y="1574370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4843" y="1724311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224910"/>
                </a:moveTo>
                <a:cubicBezTo>
                  <a:pt x="174521" y="224910"/>
                  <a:pt x="224910" y="174521"/>
                  <a:pt x="224910" y="112455"/>
                </a:cubicBezTo>
                <a:cubicBezTo>
                  <a:pt x="224910" y="50389"/>
                  <a:pt x="174521" y="0"/>
                  <a:pt x="112455" y="0"/>
                </a:cubicBezTo>
                <a:cubicBezTo>
                  <a:pt x="50389" y="0"/>
                  <a:pt x="0" y="50389"/>
                  <a:pt x="0" y="112455"/>
                </a:cubicBezTo>
                <a:cubicBezTo>
                  <a:pt x="0" y="174521"/>
                  <a:pt x="50389" y="224910"/>
                  <a:pt x="112455" y="224910"/>
                </a:cubicBezTo>
                <a:close/>
                <a:moveTo>
                  <a:pt x="149530" y="93434"/>
                </a:moveTo>
                <a:lnTo>
                  <a:pt x="114388" y="149662"/>
                </a:lnTo>
                <a:cubicBezTo>
                  <a:pt x="112543" y="152605"/>
                  <a:pt x="109380" y="154450"/>
                  <a:pt x="105910" y="154626"/>
                </a:cubicBezTo>
                <a:cubicBezTo>
                  <a:pt x="102440" y="154801"/>
                  <a:pt x="99101" y="153220"/>
                  <a:pt x="97036" y="150409"/>
                </a:cubicBezTo>
                <a:lnTo>
                  <a:pt x="75951" y="122295"/>
                </a:lnTo>
                <a:cubicBezTo>
                  <a:pt x="72437" y="117639"/>
                  <a:pt x="73403" y="111049"/>
                  <a:pt x="78060" y="107535"/>
                </a:cubicBezTo>
                <a:cubicBezTo>
                  <a:pt x="82716" y="104021"/>
                  <a:pt x="89305" y="104987"/>
                  <a:pt x="92819" y="109644"/>
                </a:cubicBezTo>
                <a:lnTo>
                  <a:pt x="104680" y="125458"/>
                </a:lnTo>
                <a:lnTo>
                  <a:pt x="131651" y="82277"/>
                </a:lnTo>
                <a:cubicBezTo>
                  <a:pt x="134726" y="77357"/>
                  <a:pt x="141228" y="75819"/>
                  <a:pt x="146192" y="78938"/>
                </a:cubicBezTo>
                <a:cubicBezTo>
                  <a:pt x="151155" y="82057"/>
                  <a:pt x="152649" y="88514"/>
                  <a:pt x="149530" y="93478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7" name="Text 25"/>
          <p:cNvSpPr/>
          <p:nvPr/>
        </p:nvSpPr>
        <p:spPr>
          <a:xfrm>
            <a:off x="7109633" y="1686826"/>
            <a:ext cx="2380298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4903" y="2286586"/>
            <a:ext cx="374850" cy="374850"/>
          </a:xfrm>
          <a:custGeom>
            <a:avLst/>
            <a:gdLst/>
            <a:ahLst/>
            <a:cxnLst/>
            <a:rect l="l" t="t" r="r" b="b"/>
            <a:pathLst>
              <a:path w="374850" h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6598533" y="2361556"/>
            <a:ext cx="12182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59693" y="2324071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59693" y="2586466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duplicates, handle missing values, standardize formats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4903" y="2923831"/>
            <a:ext cx="374850" cy="374850"/>
          </a:xfrm>
          <a:custGeom>
            <a:avLst/>
            <a:gdLst/>
            <a:ahLst/>
            <a:cxnLst/>
            <a:rect l="l" t="t" r="r" b="b"/>
            <a:pathLst>
              <a:path w="374850" h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6584110" y="2998801"/>
            <a:ext cx="1499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59693" y="2961316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Encoding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9693" y="3223711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One-hot encoding for categorical variables (Sport, NOC, Season)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34903" y="3561076"/>
            <a:ext cx="374850" cy="374850"/>
          </a:xfrm>
          <a:custGeom>
            <a:avLst/>
            <a:gdLst/>
            <a:ahLst/>
            <a:cxnLst/>
            <a:rect l="l" t="t" r="r" b="b"/>
            <a:pathLst>
              <a:path w="374850" h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582207" y="3636046"/>
            <a:ext cx="15931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59693" y="3598561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59693" y="3860956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 for numerical features (Age, Height, Weight)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4903" y="4198321"/>
            <a:ext cx="374850" cy="374850"/>
          </a:xfrm>
          <a:custGeom>
            <a:avLst/>
            <a:gdLst/>
            <a:ahLst/>
            <a:cxnLst/>
            <a:rect l="l" t="t" r="r" b="b"/>
            <a:pathLst>
              <a:path w="374850" h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6584184" y="4273291"/>
            <a:ext cx="1499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59693" y="4235806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59693" y="4498201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80-20 split with stratification to maintain class distribution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34903" y="4835566"/>
            <a:ext cx="374850" cy="374850"/>
          </a:xfrm>
          <a:custGeom>
            <a:avLst/>
            <a:gdLst/>
            <a:ahLst/>
            <a:cxnLst/>
            <a:rect l="l" t="t" r="r" b="b"/>
            <a:pathLst>
              <a:path w="374850" h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Text 43"/>
          <p:cNvSpPr/>
          <p:nvPr/>
        </p:nvSpPr>
        <p:spPr>
          <a:xfrm>
            <a:off x="6581987" y="4910537"/>
            <a:ext cx="15931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59693" y="4873051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SMOTE Oversampling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59693" y="5135447"/>
            <a:ext cx="47137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only to training set to address class imbalance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31247" y="6351366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739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spc="93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Feature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609600"/>
            <a:ext cx="117178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Predictive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8667" y="1219200"/>
            <a:ext cx="3725333" cy="3056467"/>
          </a:xfrm>
          <a:custGeom>
            <a:avLst/>
            <a:gdLst/>
            <a:ahLst/>
            <a:cxnLst/>
            <a:rect l="l" t="t" r="r" b="b"/>
            <a:pathLst>
              <a:path w="3725333" h="3056467">
                <a:moveTo>
                  <a:pt x="135463" y="0"/>
                </a:moveTo>
                <a:lnTo>
                  <a:pt x="3589871" y="0"/>
                </a:lnTo>
                <a:cubicBezTo>
                  <a:pt x="3664685" y="0"/>
                  <a:pt x="3725333" y="60649"/>
                  <a:pt x="3725333" y="135463"/>
                </a:cubicBezTo>
                <a:lnTo>
                  <a:pt x="3725333" y="2921004"/>
                </a:lnTo>
                <a:cubicBezTo>
                  <a:pt x="3725333" y="2995818"/>
                  <a:pt x="3664685" y="3056467"/>
                  <a:pt x="3589871" y="3056467"/>
                </a:cubicBezTo>
                <a:lnTo>
                  <a:pt x="135463" y="3056467"/>
                </a:lnTo>
                <a:cubicBezTo>
                  <a:pt x="60649" y="3056467"/>
                  <a:pt x="0" y="2995818"/>
                  <a:pt x="0" y="2921004"/>
                </a:cubicBezTo>
                <a:lnTo>
                  <a:pt x="0" y="135463"/>
                </a:lnTo>
                <a:cubicBezTo>
                  <a:pt x="0" y="60699"/>
                  <a:pt x="60699" y="0"/>
                  <a:pt x="135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400" dist="8467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8000" y="13885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15950" y="1507067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74083" y="2646"/>
                </a:moveTo>
                <a:cubicBezTo>
                  <a:pt x="95987" y="2646"/>
                  <a:pt x="113771" y="20429"/>
                  <a:pt x="113771" y="42333"/>
                </a:cubicBezTo>
                <a:cubicBezTo>
                  <a:pt x="113771" y="64237"/>
                  <a:pt x="95987" y="82021"/>
                  <a:pt x="74083" y="82021"/>
                </a:cubicBezTo>
                <a:cubicBezTo>
                  <a:pt x="52179" y="82021"/>
                  <a:pt x="34396" y="64237"/>
                  <a:pt x="34396" y="42333"/>
                </a:cubicBezTo>
                <a:cubicBezTo>
                  <a:pt x="34396" y="20429"/>
                  <a:pt x="52179" y="2646"/>
                  <a:pt x="74083" y="2646"/>
                </a:cubicBezTo>
                <a:close/>
                <a:moveTo>
                  <a:pt x="64261" y="100542"/>
                </a:moveTo>
                <a:lnTo>
                  <a:pt x="83906" y="100542"/>
                </a:lnTo>
                <a:cubicBezTo>
                  <a:pt x="85196" y="100542"/>
                  <a:pt x="86519" y="100575"/>
                  <a:pt x="87809" y="100674"/>
                </a:cubicBezTo>
                <a:cubicBezTo>
                  <a:pt x="82451" y="110001"/>
                  <a:pt x="79375" y="120782"/>
                  <a:pt x="79375" y="132292"/>
                </a:cubicBezTo>
                <a:cubicBezTo>
                  <a:pt x="79375" y="146116"/>
                  <a:pt x="83807" y="158915"/>
                  <a:pt x="91281" y="169333"/>
                </a:cubicBezTo>
                <a:lnTo>
                  <a:pt x="15114" y="169333"/>
                </a:lnTo>
                <a:cubicBezTo>
                  <a:pt x="9690" y="169333"/>
                  <a:pt x="5292" y="164935"/>
                  <a:pt x="5292" y="159511"/>
                </a:cubicBezTo>
                <a:cubicBezTo>
                  <a:pt x="5292" y="126934"/>
                  <a:pt x="31684" y="100542"/>
                  <a:pt x="64261" y="100542"/>
                </a:cubicBezTo>
                <a:close/>
                <a:moveTo>
                  <a:pt x="95250" y="132292"/>
                </a:moveTo>
                <a:cubicBezTo>
                  <a:pt x="95250" y="106007"/>
                  <a:pt x="116590" y="84667"/>
                  <a:pt x="142875" y="84667"/>
                </a:cubicBezTo>
                <a:cubicBezTo>
                  <a:pt x="169160" y="84667"/>
                  <a:pt x="190500" y="106007"/>
                  <a:pt x="190500" y="132292"/>
                </a:cubicBezTo>
                <a:cubicBezTo>
                  <a:pt x="190500" y="158577"/>
                  <a:pt x="169160" y="179917"/>
                  <a:pt x="142875" y="179917"/>
                </a:cubicBezTo>
                <a:cubicBezTo>
                  <a:pt x="116590" y="179917"/>
                  <a:pt x="95250" y="158577"/>
                  <a:pt x="95250" y="132292"/>
                </a:cubicBezTo>
                <a:close/>
                <a:moveTo>
                  <a:pt x="142875" y="105833"/>
                </a:moveTo>
                <a:cubicBezTo>
                  <a:pt x="139965" y="105833"/>
                  <a:pt x="137583" y="108215"/>
                  <a:pt x="137583" y="111125"/>
                </a:cubicBezTo>
                <a:lnTo>
                  <a:pt x="137583" y="132292"/>
                </a:lnTo>
                <a:cubicBezTo>
                  <a:pt x="137583" y="135202"/>
                  <a:pt x="139965" y="137583"/>
                  <a:pt x="142875" y="137583"/>
                </a:cubicBezTo>
                <a:lnTo>
                  <a:pt x="158750" y="137583"/>
                </a:lnTo>
                <a:cubicBezTo>
                  <a:pt x="161660" y="137583"/>
                  <a:pt x="164042" y="135202"/>
                  <a:pt x="164042" y="132292"/>
                </a:cubicBezTo>
                <a:cubicBezTo>
                  <a:pt x="164042" y="129381"/>
                  <a:pt x="161660" y="127000"/>
                  <a:pt x="158750" y="127000"/>
                </a:cubicBezTo>
                <a:lnTo>
                  <a:pt x="148167" y="127000"/>
                </a:lnTo>
                <a:lnTo>
                  <a:pt x="148167" y="111125"/>
                </a:lnTo>
                <a:cubicBezTo>
                  <a:pt x="148167" y="108215"/>
                  <a:pt x="145785" y="105833"/>
                  <a:pt x="142875" y="10583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73200"/>
            <a:ext cx="13462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Athlete Experience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930400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032000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 Olympics Count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235200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prior Olympic appearances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573867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2675467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 Medals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878667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medal count for athlete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3217333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318933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Category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522133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Teen, Young Adult, Adult, Senior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3865033"/>
            <a:ext cx="3386667" cy="8467"/>
          </a:xfrm>
          <a:custGeom>
            <a:avLst/>
            <a:gdLst/>
            <a:ahLst/>
            <a:cxnLst/>
            <a:rect l="l" t="t" r="r" b="b"/>
            <a:pathLst>
              <a:path w="3386667" h="8467">
                <a:moveTo>
                  <a:pt x="0" y="0"/>
                </a:moveTo>
                <a:lnTo>
                  <a:pt x="3386667" y="0"/>
                </a:lnTo>
                <a:lnTo>
                  <a:pt x="3386667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8000" y="3970867"/>
            <a:ext cx="34374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Rationale:</a:t>
            </a:r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Experience correlates with performance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33333" y="1219200"/>
            <a:ext cx="3725333" cy="3056467"/>
          </a:xfrm>
          <a:custGeom>
            <a:avLst/>
            <a:gdLst/>
            <a:ahLst/>
            <a:cxnLst/>
            <a:rect l="l" t="t" r="r" b="b"/>
            <a:pathLst>
              <a:path w="3725333" h="3056467">
                <a:moveTo>
                  <a:pt x="135463" y="0"/>
                </a:moveTo>
                <a:lnTo>
                  <a:pt x="3589871" y="0"/>
                </a:lnTo>
                <a:cubicBezTo>
                  <a:pt x="3664685" y="0"/>
                  <a:pt x="3725333" y="60649"/>
                  <a:pt x="3725333" y="135463"/>
                </a:cubicBezTo>
                <a:lnTo>
                  <a:pt x="3725333" y="2921004"/>
                </a:lnTo>
                <a:cubicBezTo>
                  <a:pt x="3725333" y="2995818"/>
                  <a:pt x="3664685" y="3056467"/>
                  <a:pt x="3589871" y="3056467"/>
                </a:cubicBezTo>
                <a:lnTo>
                  <a:pt x="135463" y="3056467"/>
                </a:lnTo>
                <a:cubicBezTo>
                  <a:pt x="60649" y="3056467"/>
                  <a:pt x="0" y="2995818"/>
                  <a:pt x="0" y="2921004"/>
                </a:cubicBezTo>
                <a:lnTo>
                  <a:pt x="0" y="135463"/>
                </a:lnTo>
                <a:cubicBezTo>
                  <a:pt x="0" y="60699"/>
                  <a:pt x="60699" y="0"/>
                  <a:pt x="135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400" dist="8467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02667" y="13885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31783" y="150706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21167" y="4729"/>
                  <a:pt x="16437" y="0"/>
                  <a:pt x="10583" y="0"/>
                </a:cubicBezTo>
                <a:cubicBezTo>
                  <a:pt x="4729" y="0"/>
                  <a:pt x="0" y="4729"/>
                  <a:pt x="0" y="10583"/>
                </a:cubicBezTo>
                <a:lnTo>
                  <a:pt x="0" y="158750"/>
                </a:lnTo>
                <a:cubicBezTo>
                  <a:pt x="0" y="164604"/>
                  <a:pt x="4729" y="169333"/>
                  <a:pt x="10583" y="169333"/>
                </a:cubicBezTo>
                <a:cubicBezTo>
                  <a:pt x="16437" y="169333"/>
                  <a:pt x="21167" y="164604"/>
                  <a:pt x="21167" y="158750"/>
                </a:cubicBezTo>
                <a:lnTo>
                  <a:pt x="21167" y="118533"/>
                </a:lnTo>
                <a:lnTo>
                  <a:pt x="41903" y="112316"/>
                </a:lnTo>
                <a:cubicBezTo>
                  <a:pt x="55761" y="108148"/>
                  <a:pt x="70710" y="109438"/>
                  <a:pt x="83641" y="115921"/>
                </a:cubicBezTo>
                <a:cubicBezTo>
                  <a:pt x="97764" y="122998"/>
                  <a:pt x="114234" y="123858"/>
                  <a:pt x="129017" y="118302"/>
                </a:cubicBezTo>
                <a:lnTo>
                  <a:pt x="141288" y="113705"/>
                </a:lnTo>
                <a:cubicBezTo>
                  <a:pt x="145422" y="112150"/>
                  <a:pt x="148167" y="108215"/>
                  <a:pt x="148167" y="103783"/>
                </a:cubicBezTo>
                <a:lnTo>
                  <a:pt x="148167" y="21861"/>
                </a:lnTo>
                <a:cubicBezTo>
                  <a:pt x="148167" y="14254"/>
                  <a:pt x="140163" y="9293"/>
                  <a:pt x="133350" y="12700"/>
                </a:cubicBezTo>
                <a:lnTo>
                  <a:pt x="129447" y="14651"/>
                </a:lnTo>
                <a:cubicBezTo>
                  <a:pt x="114598" y="22093"/>
                  <a:pt x="97102" y="22093"/>
                  <a:pt x="82219" y="14651"/>
                </a:cubicBezTo>
                <a:cubicBezTo>
                  <a:pt x="70181" y="8632"/>
                  <a:pt x="56323" y="7441"/>
                  <a:pt x="43458" y="11311"/>
                </a:cubicBezTo>
                <a:lnTo>
                  <a:pt x="21167" y="17992"/>
                </a:lnTo>
                <a:lnTo>
                  <a:pt x="21167" y="1058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667" y="1473200"/>
            <a:ext cx="15155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Country Performance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2667" y="1930400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04267" y="2032000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Medal Rate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04267" y="2235200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Country's all-time medal percentage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02667" y="2573867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4504267" y="2675467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Performance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4267" y="2878667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Medals in last 3 Olympic Games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2667" y="3217333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4504267" y="3318933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 Specialization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04267" y="3522133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Country's strength in specific sport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02667" y="3865033"/>
            <a:ext cx="3386667" cy="8467"/>
          </a:xfrm>
          <a:custGeom>
            <a:avLst/>
            <a:gdLst/>
            <a:ahLst/>
            <a:cxnLst/>
            <a:rect l="l" t="t" r="r" b="b"/>
            <a:pathLst>
              <a:path w="3386667" h="8467">
                <a:moveTo>
                  <a:pt x="0" y="0"/>
                </a:moveTo>
                <a:lnTo>
                  <a:pt x="3386667" y="0"/>
                </a:lnTo>
                <a:lnTo>
                  <a:pt x="3386667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4402667" y="3970867"/>
            <a:ext cx="34374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Rationale:</a:t>
            </a:r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Country investment affects success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0" y="1219200"/>
            <a:ext cx="3725333" cy="3056467"/>
          </a:xfrm>
          <a:custGeom>
            <a:avLst/>
            <a:gdLst/>
            <a:ahLst/>
            <a:cxnLst/>
            <a:rect l="l" t="t" r="r" b="b"/>
            <a:pathLst>
              <a:path w="3725333" h="3056467">
                <a:moveTo>
                  <a:pt x="135463" y="0"/>
                </a:moveTo>
                <a:lnTo>
                  <a:pt x="3589871" y="0"/>
                </a:lnTo>
                <a:cubicBezTo>
                  <a:pt x="3664685" y="0"/>
                  <a:pt x="3725333" y="60649"/>
                  <a:pt x="3725333" y="135463"/>
                </a:cubicBezTo>
                <a:lnTo>
                  <a:pt x="3725333" y="2921004"/>
                </a:lnTo>
                <a:cubicBezTo>
                  <a:pt x="3725333" y="2995818"/>
                  <a:pt x="3664685" y="3056467"/>
                  <a:pt x="3589871" y="3056467"/>
                </a:cubicBezTo>
                <a:lnTo>
                  <a:pt x="135463" y="3056467"/>
                </a:lnTo>
                <a:cubicBezTo>
                  <a:pt x="60649" y="3056467"/>
                  <a:pt x="0" y="2995818"/>
                  <a:pt x="0" y="2921004"/>
                </a:cubicBezTo>
                <a:lnTo>
                  <a:pt x="0" y="135463"/>
                </a:lnTo>
                <a:cubicBezTo>
                  <a:pt x="0" y="60699"/>
                  <a:pt x="60699" y="0"/>
                  <a:pt x="135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400" dist="8467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7333" y="13885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26450" y="150706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84832" y="-10583"/>
                </a:moveTo>
                <a:cubicBezTo>
                  <a:pt x="95054" y="-10583"/>
                  <a:pt x="103353" y="-2284"/>
                  <a:pt x="103353" y="7938"/>
                </a:cubicBezTo>
                <a:cubicBezTo>
                  <a:pt x="103353" y="18159"/>
                  <a:pt x="95054" y="26458"/>
                  <a:pt x="84832" y="26458"/>
                </a:cubicBezTo>
                <a:cubicBezTo>
                  <a:pt x="74610" y="26458"/>
                  <a:pt x="66311" y="18159"/>
                  <a:pt x="66311" y="7938"/>
                </a:cubicBezTo>
                <a:cubicBezTo>
                  <a:pt x="66311" y="-2284"/>
                  <a:pt x="74610" y="-10583"/>
                  <a:pt x="84832" y="-10583"/>
                </a:cubicBezTo>
                <a:close/>
                <a:moveTo>
                  <a:pt x="40878" y="58208"/>
                </a:moveTo>
                <a:cubicBezTo>
                  <a:pt x="39787" y="58208"/>
                  <a:pt x="38828" y="58870"/>
                  <a:pt x="38431" y="59862"/>
                </a:cubicBezTo>
                <a:lnTo>
                  <a:pt x="31155" y="78019"/>
                </a:lnTo>
                <a:cubicBezTo>
                  <a:pt x="28972" y="83443"/>
                  <a:pt x="22820" y="86089"/>
                  <a:pt x="17396" y="83906"/>
                </a:cubicBezTo>
                <a:cubicBezTo>
                  <a:pt x="11972" y="81723"/>
                  <a:pt x="9327" y="75572"/>
                  <a:pt x="11509" y="70148"/>
                </a:cubicBezTo>
                <a:lnTo>
                  <a:pt x="18752" y="51991"/>
                </a:lnTo>
                <a:cubicBezTo>
                  <a:pt x="22390" y="42962"/>
                  <a:pt x="31122" y="37042"/>
                  <a:pt x="40878" y="37042"/>
                </a:cubicBezTo>
                <a:lnTo>
                  <a:pt x="73058" y="37042"/>
                </a:lnTo>
                <a:cubicBezTo>
                  <a:pt x="82484" y="37042"/>
                  <a:pt x="91182" y="42036"/>
                  <a:pt x="95911" y="50172"/>
                </a:cubicBezTo>
                <a:lnTo>
                  <a:pt x="106759" y="68792"/>
                </a:lnTo>
                <a:lnTo>
                  <a:pt x="127132" y="68792"/>
                </a:lnTo>
                <a:cubicBezTo>
                  <a:pt x="132986" y="68792"/>
                  <a:pt x="137716" y="73521"/>
                  <a:pt x="137716" y="79375"/>
                </a:cubicBezTo>
                <a:cubicBezTo>
                  <a:pt x="137716" y="85229"/>
                  <a:pt x="132986" y="89958"/>
                  <a:pt x="127132" y="89958"/>
                </a:cubicBezTo>
                <a:lnTo>
                  <a:pt x="106759" y="89958"/>
                </a:lnTo>
                <a:cubicBezTo>
                  <a:pt x="99219" y="89958"/>
                  <a:pt x="92273" y="85957"/>
                  <a:pt x="88470" y="79441"/>
                </a:cubicBezTo>
                <a:lnTo>
                  <a:pt x="85163" y="73786"/>
                </a:lnTo>
                <a:lnTo>
                  <a:pt x="78317" y="97069"/>
                </a:lnTo>
                <a:lnTo>
                  <a:pt x="103254" y="104543"/>
                </a:lnTo>
                <a:cubicBezTo>
                  <a:pt x="112415" y="107289"/>
                  <a:pt x="117078" y="117442"/>
                  <a:pt x="113209" y="126206"/>
                </a:cubicBezTo>
                <a:lnTo>
                  <a:pt x="94489" y="168341"/>
                </a:lnTo>
                <a:cubicBezTo>
                  <a:pt x="92108" y="173699"/>
                  <a:pt x="85857" y="176080"/>
                  <a:pt x="80533" y="173699"/>
                </a:cubicBezTo>
                <a:cubicBezTo>
                  <a:pt x="75208" y="171318"/>
                  <a:pt x="72793" y="165067"/>
                  <a:pt x="75175" y="159742"/>
                </a:cubicBezTo>
                <a:lnTo>
                  <a:pt x="91447" y="123097"/>
                </a:lnTo>
                <a:lnTo>
                  <a:pt x="59730" y="113572"/>
                </a:lnTo>
                <a:cubicBezTo>
                  <a:pt x="48915" y="110331"/>
                  <a:pt x="42532" y="99120"/>
                  <a:pt x="45277" y="88172"/>
                </a:cubicBezTo>
                <a:lnTo>
                  <a:pt x="52784" y="58208"/>
                </a:lnTo>
                <a:lnTo>
                  <a:pt x="40911" y="58208"/>
                </a:lnTo>
                <a:close/>
                <a:moveTo>
                  <a:pt x="38232" y="118070"/>
                </a:moveTo>
                <a:cubicBezTo>
                  <a:pt x="42631" y="122998"/>
                  <a:pt x="48386" y="126768"/>
                  <a:pt x="55166" y="128786"/>
                </a:cubicBezTo>
                <a:lnTo>
                  <a:pt x="56720" y="129249"/>
                </a:lnTo>
                <a:lnTo>
                  <a:pt x="54438" y="135632"/>
                </a:lnTo>
                <a:cubicBezTo>
                  <a:pt x="52520" y="141023"/>
                  <a:pt x="49146" y="145818"/>
                  <a:pt x="44748" y="149457"/>
                </a:cubicBezTo>
                <a:lnTo>
                  <a:pt x="17496" y="171913"/>
                </a:lnTo>
                <a:cubicBezTo>
                  <a:pt x="12998" y="175617"/>
                  <a:pt x="6317" y="174989"/>
                  <a:pt x="2613" y="170491"/>
                </a:cubicBezTo>
                <a:cubicBezTo>
                  <a:pt x="-1091" y="165993"/>
                  <a:pt x="-463" y="159312"/>
                  <a:pt x="4035" y="155608"/>
                </a:cubicBezTo>
                <a:lnTo>
                  <a:pt x="31287" y="133152"/>
                </a:lnTo>
                <a:cubicBezTo>
                  <a:pt x="32775" y="131928"/>
                  <a:pt x="33867" y="130340"/>
                  <a:pt x="34528" y="128554"/>
                </a:cubicBezTo>
                <a:lnTo>
                  <a:pt x="38232" y="11807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8805333" y="1473200"/>
            <a:ext cx="16002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Sport-Specific Metrics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97333" y="1930400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9" name="Text 37"/>
          <p:cNvSpPr/>
          <p:nvPr/>
        </p:nvSpPr>
        <p:spPr>
          <a:xfrm>
            <a:off x="8398933" y="2032000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98933" y="2235200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Mass Index from height &amp; weight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97333" y="2573867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8398933" y="2675467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 Age Profile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98933" y="2878667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Typical age range for sport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97333" y="3217333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5" name="Text 43"/>
          <p:cNvSpPr/>
          <p:nvPr/>
        </p:nvSpPr>
        <p:spPr>
          <a:xfrm>
            <a:off x="8398933" y="3318933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Competitiveness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98933" y="3522133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participants per event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7333" y="3865033"/>
            <a:ext cx="3386667" cy="8467"/>
          </a:xfrm>
          <a:custGeom>
            <a:avLst/>
            <a:gdLst/>
            <a:ahLst/>
            <a:cxnLst/>
            <a:rect l="l" t="t" r="r" b="b"/>
            <a:pathLst>
              <a:path w="3386667" h="8467">
                <a:moveTo>
                  <a:pt x="0" y="0"/>
                </a:moveTo>
                <a:lnTo>
                  <a:pt x="3386667" y="0"/>
                </a:lnTo>
                <a:lnTo>
                  <a:pt x="3386667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8" name="Text 46"/>
          <p:cNvSpPr/>
          <p:nvPr/>
        </p:nvSpPr>
        <p:spPr>
          <a:xfrm>
            <a:off x="8297333" y="3970867"/>
            <a:ext cx="34374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Rationale:</a:t>
            </a:r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Physical traits matter by sport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8667" y="4445000"/>
            <a:ext cx="3725333" cy="2413000"/>
          </a:xfrm>
          <a:custGeom>
            <a:avLst/>
            <a:gdLst/>
            <a:ahLst/>
            <a:cxnLst/>
            <a:rect l="l" t="t" r="r" b="b"/>
            <a:pathLst>
              <a:path w="3725333" h="2413000">
                <a:moveTo>
                  <a:pt x="135466" y="0"/>
                </a:moveTo>
                <a:lnTo>
                  <a:pt x="3589868" y="0"/>
                </a:lnTo>
                <a:cubicBezTo>
                  <a:pt x="3664683" y="0"/>
                  <a:pt x="3725333" y="60650"/>
                  <a:pt x="3725333" y="135466"/>
                </a:cubicBezTo>
                <a:lnTo>
                  <a:pt x="3725333" y="2277534"/>
                </a:lnTo>
                <a:cubicBezTo>
                  <a:pt x="3725333" y="2352350"/>
                  <a:pt x="3664683" y="2413000"/>
                  <a:pt x="3589868" y="2413000"/>
                </a:cubicBezTo>
                <a:lnTo>
                  <a:pt x="135466" y="2413000"/>
                </a:lnTo>
                <a:cubicBezTo>
                  <a:pt x="60650" y="2413000"/>
                  <a:pt x="0" y="2352350"/>
                  <a:pt x="0" y="2277534"/>
                </a:cubicBezTo>
                <a:lnTo>
                  <a:pt x="0" y="135466"/>
                </a:lnTo>
                <a:cubicBezTo>
                  <a:pt x="0" y="60700"/>
                  <a:pt x="60700" y="0"/>
                  <a:pt x="13546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400" dist="8467" dir="540000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8000" y="46143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7117" y="473286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42333" y="0"/>
                </a:moveTo>
                <a:cubicBezTo>
                  <a:pt x="36479" y="0"/>
                  <a:pt x="31750" y="4729"/>
                  <a:pt x="31750" y="10583"/>
                </a:cubicBezTo>
                <a:lnTo>
                  <a:pt x="31750" y="21167"/>
                </a:lnTo>
                <a:lnTo>
                  <a:pt x="21167" y="21167"/>
                </a:lnTo>
                <a:cubicBezTo>
                  <a:pt x="9492" y="21167"/>
                  <a:pt x="0" y="30659"/>
                  <a:pt x="0" y="42333"/>
                </a:cubicBezTo>
                <a:lnTo>
                  <a:pt x="0" y="58208"/>
                </a:lnTo>
                <a:lnTo>
                  <a:pt x="148167" y="58208"/>
                </a:lnTo>
                <a:lnTo>
                  <a:pt x="148167" y="42333"/>
                </a:lnTo>
                <a:cubicBezTo>
                  <a:pt x="148167" y="30659"/>
                  <a:pt x="138675" y="21167"/>
                  <a:pt x="127000" y="21167"/>
                </a:cubicBezTo>
                <a:lnTo>
                  <a:pt x="116417" y="21167"/>
                </a:lnTo>
                <a:lnTo>
                  <a:pt x="116417" y="10583"/>
                </a:lnTo>
                <a:cubicBezTo>
                  <a:pt x="116417" y="4729"/>
                  <a:pt x="111687" y="0"/>
                  <a:pt x="105833" y="0"/>
                </a:cubicBezTo>
                <a:cubicBezTo>
                  <a:pt x="99979" y="0"/>
                  <a:pt x="95250" y="4729"/>
                  <a:pt x="95250" y="10583"/>
                </a:cubicBezTo>
                <a:lnTo>
                  <a:pt x="95250" y="21167"/>
                </a:lnTo>
                <a:lnTo>
                  <a:pt x="52917" y="21167"/>
                </a:lnTo>
                <a:lnTo>
                  <a:pt x="52917" y="10583"/>
                </a:lnTo>
                <a:cubicBezTo>
                  <a:pt x="52917" y="4729"/>
                  <a:pt x="48187" y="0"/>
                  <a:pt x="42333" y="0"/>
                </a:cubicBezTo>
                <a:close/>
                <a:moveTo>
                  <a:pt x="0" y="74083"/>
                </a:move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74083"/>
                </a:lnTo>
                <a:lnTo>
                  <a:pt x="0" y="7408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2" name="Text 50"/>
          <p:cNvSpPr/>
          <p:nvPr/>
        </p:nvSpPr>
        <p:spPr>
          <a:xfrm>
            <a:off x="1016000" y="4699000"/>
            <a:ext cx="13377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8000" y="5156200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609600" y="5257800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Decade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09600" y="5461000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Olympic decade grouping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8000" y="5799667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7" name="Text 55"/>
          <p:cNvSpPr/>
          <p:nvPr/>
        </p:nvSpPr>
        <p:spPr>
          <a:xfrm>
            <a:off x="609600" y="5901267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Since First Olympics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09600" y="6104467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progression feature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8000" y="6447367"/>
            <a:ext cx="3386667" cy="8467"/>
          </a:xfrm>
          <a:custGeom>
            <a:avLst/>
            <a:gdLst/>
            <a:ahLst/>
            <a:cxnLst/>
            <a:rect l="l" t="t" r="r" b="b"/>
            <a:pathLst>
              <a:path w="3386667" h="8467">
                <a:moveTo>
                  <a:pt x="0" y="0"/>
                </a:moveTo>
                <a:lnTo>
                  <a:pt x="3386667" y="0"/>
                </a:lnTo>
                <a:lnTo>
                  <a:pt x="3386667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60" name="Text 58"/>
          <p:cNvSpPr/>
          <p:nvPr/>
        </p:nvSpPr>
        <p:spPr>
          <a:xfrm>
            <a:off x="508000" y="6553200"/>
            <a:ext cx="34374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Rationale:</a:t>
            </a:r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Olympic evolution over time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33333" y="4445000"/>
            <a:ext cx="3725333" cy="2413000"/>
          </a:xfrm>
          <a:custGeom>
            <a:avLst/>
            <a:gdLst/>
            <a:ahLst/>
            <a:cxnLst/>
            <a:rect l="l" t="t" r="r" b="b"/>
            <a:pathLst>
              <a:path w="3725333" h="2413000">
                <a:moveTo>
                  <a:pt x="135466" y="0"/>
                </a:moveTo>
                <a:lnTo>
                  <a:pt x="3589868" y="0"/>
                </a:lnTo>
                <a:cubicBezTo>
                  <a:pt x="3664683" y="0"/>
                  <a:pt x="3725333" y="60650"/>
                  <a:pt x="3725333" y="135466"/>
                </a:cubicBezTo>
                <a:lnTo>
                  <a:pt x="3725333" y="2277534"/>
                </a:lnTo>
                <a:cubicBezTo>
                  <a:pt x="3725333" y="2352350"/>
                  <a:pt x="3664683" y="2413000"/>
                  <a:pt x="3589868" y="2413000"/>
                </a:cubicBezTo>
                <a:lnTo>
                  <a:pt x="135466" y="2413000"/>
                </a:lnTo>
                <a:cubicBezTo>
                  <a:pt x="60650" y="2413000"/>
                  <a:pt x="0" y="2352350"/>
                  <a:pt x="0" y="2277534"/>
                </a:cubicBezTo>
                <a:lnTo>
                  <a:pt x="0" y="135466"/>
                </a:lnTo>
                <a:cubicBezTo>
                  <a:pt x="0" y="60700"/>
                  <a:pt x="60700" y="0"/>
                  <a:pt x="13546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400" dist="8467" dir="540000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402667" y="46143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500033" y="4732867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158750" y="-21167"/>
                </a:moveTo>
                <a:cubicBezTo>
                  <a:pt x="152896" y="-21167"/>
                  <a:pt x="148167" y="-16437"/>
                  <a:pt x="148167" y="-10583"/>
                </a:cubicBezTo>
                <a:cubicBezTo>
                  <a:pt x="148167" y="-4729"/>
                  <a:pt x="152896" y="0"/>
                  <a:pt x="158750" y="0"/>
                </a:cubicBezTo>
                <a:lnTo>
                  <a:pt x="175518" y="0"/>
                </a:lnTo>
                <a:lnTo>
                  <a:pt x="156766" y="18752"/>
                </a:lnTo>
                <a:cubicBezTo>
                  <a:pt x="148067" y="13560"/>
                  <a:pt x="137881" y="10583"/>
                  <a:pt x="127000" y="10583"/>
                </a:cubicBezTo>
                <a:cubicBezTo>
                  <a:pt x="115292" y="10583"/>
                  <a:pt x="104378" y="14056"/>
                  <a:pt x="95250" y="20009"/>
                </a:cubicBezTo>
                <a:cubicBezTo>
                  <a:pt x="86122" y="14056"/>
                  <a:pt x="75208" y="10583"/>
                  <a:pt x="63500" y="10583"/>
                </a:cubicBezTo>
                <a:cubicBezTo>
                  <a:pt x="31353" y="10583"/>
                  <a:pt x="5292" y="36645"/>
                  <a:pt x="5292" y="68792"/>
                </a:cubicBezTo>
                <a:cubicBezTo>
                  <a:pt x="5292" y="97334"/>
                  <a:pt x="25830" y="121080"/>
                  <a:pt x="52917" y="126041"/>
                </a:cubicBezTo>
                <a:lnTo>
                  <a:pt x="52917" y="137583"/>
                </a:lnTo>
                <a:lnTo>
                  <a:pt x="42333" y="137583"/>
                </a:lnTo>
                <a:cubicBezTo>
                  <a:pt x="36479" y="137583"/>
                  <a:pt x="31750" y="142313"/>
                  <a:pt x="31750" y="148167"/>
                </a:cubicBezTo>
                <a:cubicBezTo>
                  <a:pt x="31750" y="154021"/>
                  <a:pt x="36479" y="158750"/>
                  <a:pt x="42333" y="158750"/>
                </a:cubicBezTo>
                <a:lnTo>
                  <a:pt x="52917" y="158750"/>
                </a:lnTo>
                <a:lnTo>
                  <a:pt x="52917" y="169333"/>
                </a:lnTo>
                <a:cubicBezTo>
                  <a:pt x="52917" y="175187"/>
                  <a:pt x="57646" y="179917"/>
                  <a:pt x="63500" y="179917"/>
                </a:cubicBezTo>
                <a:cubicBezTo>
                  <a:pt x="69354" y="179917"/>
                  <a:pt x="74083" y="175187"/>
                  <a:pt x="74083" y="169333"/>
                </a:cubicBezTo>
                <a:lnTo>
                  <a:pt x="74083" y="158750"/>
                </a:lnTo>
                <a:lnTo>
                  <a:pt x="84667" y="158750"/>
                </a:lnTo>
                <a:cubicBezTo>
                  <a:pt x="90521" y="158750"/>
                  <a:pt x="95250" y="154021"/>
                  <a:pt x="95250" y="148167"/>
                </a:cubicBezTo>
                <a:cubicBezTo>
                  <a:pt x="95250" y="142313"/>
                  <a:pt x="90521" y="137583"/>
                  <a:pt x="84667" y="137583"/>
                </a:cubicBezTo>
                <a:lnTo>
                  <a:pt x="74083" y="137583"/>
                </a:lnTo>
                <a:lnTo>
                  <a:pt x="74083" y="126041"/>
                </a:lnTo>
                <a:cubicBezTo>
                  <a:pt x="81789" y="124619"/>
                  <a:pt x="88933" y="121708"/>
                  <a:pt x="95250" y="117574"/>
                </a:cubicBezTo>
                <a:cubicBezTo>
                  <a:pt x="104378" y="123527"/>
                  <a:pt x="115292" y="127000"/>
                  <a:pt x="127000" y="127000"/>
                </a:cubicBezTo>
                <a:cubicBezTo>
                  <a:pt x="159147" y="127000"/>
                  <a:pt x="185208" y="100939"/>
                  <a:pt x="185208" y="68792"/>
                </a:cubicBezTo>
                <a:cubicBezTo>
                  <a:pt x="185208" y="55199"/>
                  <a:pt x="180545" y="42664"/>
                  <a:pt x="172707" y="32742"/>
                </a:cubicBezTo>
                <a:lnTo>
                  <a:pt x="190500" y="14982"/>
                </a:lnTo>
                <a:lnTo>
                  <a:pt x="190500" y="31750"/>
                </a:lnTo>
                <a:cubicBezTo>
                  <a:pt x="190500" y="37604"/>
                  <a:pt x="195229" y="42333"/>
                  <a:pt x="201083" y="42333"/>
                </a:cubicBezTo>
                <a:cubicBezTo>
                  <a:pt x="206937" y="42333"/>
                  <a:pt x="211667" y="37604"/>
                  <a:pt x="211667" y="31750"/>
                </a:cubicBezTo>
                <a:lnTo>
                  <a:pt x="211667" y="-10583"/>
                </a:lnTo>
                <a:cubicBezTo>
                  <a:pt x="211667" y="-16437"/>
                  <a:pt x="206937" y="-21167"/>
                  <a:pt x="201083" y="-21167"/>
                </a:cubicBezTo>
                <a:lnTo>
                  <a:pt x="158750" y="-21167"/>
                </a:lnTo>
                <a:close/>
                <a:moveTo>
                  <a:pt x="111125" y="102261"/>
                </a:moveTo>
                <a:cubicBezTo>
                  <a:pt x="117806" y="92803"/>
                  <a:pt x="121708" y="81260"/>
                  <a:pt x="121708" y="68792"/>
                </a:cubicBezTo>
                <a:cubicBezTo>
                  <a:pt x="121708" y="56323"/>
                  <a:pt x="117806" y="44781"/>
                  <a:pt x="111125" y="35322"/>
                </a:cubicBezTo>
                <a:cubicBezTo>
                  <a:pt x="115954" y="33040"/>
                  <a:pt x="121311" y="31750"/>
                  <a:pt x="127000" y="31750"/>
                </a:cubicBezTo>
                <a:cubicBezTo>
                  <a:pt x="147472" y="31750"/>
                  <a:pt x="164042" y="48320"/>
                  <a:pt x="164042" y="68792"/>
                </a:cubicBezTo>
                <a:cubicBezTo>
                  <a:pt x="164042" y="89264"/>
                  <a:pt x="147472" y="105833"/>
                  <a:pt x="127000" y="105833"/>
                </a:cubicBezTo>
                <a:cubicBezTo>
                  <a:pt x="121311" y="105833"/>
                  <a:pt x="115921" y="104543"/>
                  <a:pt x="111125" y="102261"/>
                </a:cubicBezTo>
                <a:close/>
                <a:moveTo>
                  <a:pt x="95250" y="49709"/>
                </a:moveTo>
                <a:cubicBezTo>
                  <a:pt x="98623" y="55298"/>
                  <a:pt x="100542" y="61813"/>
                  <a:pt x="100542" y="68792"/>
                </a:cubicBezTo>
                <a:cubicBezTo>
                  <a:pt x="100542" y="75770"/>
                  <a:pt x="98623" y="82318"/>
                  <a:pt x="95250" y="87875"/>
                </a:cubicBezTo>
                <a:cubicBezTo>
                  <a:pt x="91877" y="82285"/>
                  <a:pt x="89958" y="75770"/>
                  <a:pt x="89958" y="68792"/>
                </a:cubicBezTo>
                <a:cubicBezTo>
                  <a:pt x="89958" y="61813"/>
                  <a:pt x="91877" y="55265"/>
                  <a:pt x="95250" y="49709"/>
                </a:cubicBezTo>
                <a:close/>
                <a:moveTo>
                  <a:pt x="79375" y="35322"/>
                </a:moveTo>
                <a:cubicBezTo>
                  <a:pt x="72694" y="44781"/>
                  <a:pt x="68792" y="56323"/>
                  <a:pt x="68792" y="68792"/>
                </a:cubicBezTo>
                <a:cubicBezTo>
                  <a:pt x="68792" y="81260"/>
                  <a:pt x="72694" y="92803"/>
                  <a:pt x="79375" y="102261"/>
                </a:cubicBezTo>
                <a:cubicBezTo>
                  <a:pt x="74579" y="104543"/>
                  <a:pt x="69189" y="105833"/>
                  <a:pt x="63500" y="105833"/>
                </a:cubicBezTo>
                <a:cubicBezTo>
                  <a:pt x="43028" y="105833"/>
                  <a:pt x="26458" y="89264"/>
                  <a:pt x="26458" y="68792"/>
                </a:cubicBezTo>
                <a:cubicBezTo>
                  <a:pt x="26458" y="48320"/>
                  <a:pt x="43028" y="31750"/>
                  <a:pt x="63500" y="31750"/>
                </a:cubicBezTo>
                <a:cubicBezTo>
                  <a:pt x="69189" y="31750"/>
                  <a:pt x="74579" y="33040"/>
                  <a:pt x="79375" y="3532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4" name="Text 62"/>
          <p:cNvSpPr/>
          <p:nvPr/>
        </p:nvSpPr>
        <p:spPr>
          <a:xfrm>
            <a:off x="4910667" y="4699000"/>
            <a:ext cx="16086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 Features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02667" y="5156200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6" name="Text 64"/>
          <p:cNvSpPr/>
          <p:nvPr/>
        </p:nvSpPr>
        <p:spPr>
          <a:xfrm>
            <a:off x="4504267" y="5257800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504267" y="5461000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Male/Female encoding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02667" y="5799667"/>
            <a:ext cx="3386667" cy="541867"/>
          </a:xfrm>
          <a:custGeom>
            <a:avLst/>
            <a:gdLst/>
            <a:ahLst/>
            <a:cxnLst/>
            <a:rect l="l" t="t" r="r" b="b"/>
            <a:pathLst>
              <a:path w="3386667" h="541867">
                <a:moveTo>
                  <a:pt x="67733" y="0"/>
                </a:moveTo>
                <a:lnTo>
                  <a:pt x="3318933" y="0"/>
                </a:lnTo>
                <a:cubicBezTo>
                  <a:pt x="3356341" y="0"/>
                  <a:pt x="3386667" y="30325"/>
                  <a:pt x="3386667" y="67733"/>
                </a:cubicBezTo>
                <a:lnTo>
                  <a:pt x="3386667" y="474133"/>
                </a:lnTo>
                <a:cubicBezTo>
                  <a:pt x="3386667" y="511541"/>
                  <a:pt x="3356341" y="541867"/>
                  <a:pt x="3318933" y="541867"/>
                </a:cubicBezTo>
                <a:lnTo>
                  <a:pt x="67733" y="541867"/>
                </a:lnTo>
                <a:cubicBezTo>
                  <a:pt x="30325" y="541867"/>
                  <a:pt x="0" y="511541"/>
                  <a:pt x="0" y="474133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9" name="Text 67"/>
          <p:cNvSpPr/>
          <p:nvPr/>
        </p:nvSpPr>
        <p:spPr>
          <a:xfrm>
            <a:off x="4504267" y="5901267"/>
            <a:ext cx="3242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Height/Weight Z-Score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504267" y="6104467"/>
            <a:ext cx="32342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by sport &amp; gender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402667" y="6447367"/>
            <a:ext cx="3386667" cy="8467"/>
          </a:xfrm>
          <a:custGeom>
            <a:avLst/>
            <a:gdLst/>
            <a:ahLst/>
            <a:cxnLst/>
            <a:rect l="l" t="t" r="r" b="b"/>
            <a:pathLst>
              <a:path w="3386667" h="8467">
                <a:moveTo>
                  <a:pt x="0" y="0"/>
                </a:moveTo>
                <a:lnTo>
                  <a:pt x="3386667" y="0"/>
                </a:lnTo>
                <a:lnTo>
                  <a:pt x="3386667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72" name="Text 70"/>
          <p:cNvSpPr/>
          <p:nvPr/>
        </p:nvSpPr>
        <p:spPr>
          <a:xfrm>
            <a:off x="4402667" y="6553200"/>
            <a:ext cx="3437467" cy="1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Rationale:</a:t>
            </a:r>
            <a:pPr>
              <a:lnSpc>
                <a:spcPct val="110000"/>
              </a:lnSpc>
            </a:pPr>
            <a:r>
              <a:rPr lang="en-US" sz="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Biological factors influence performance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28000" y="4445000"/>
            <a:ext cx="3725333" cy="2413000"/>
          </a:xfrm>
          <a:custGeom>
            <a:avLst/>
            <a:gdLst/>
            <a:ahLst/>
            <a:cxnLst/>
            <a:rect l="l" t="t" r="r" b="b"/>
            <a:pathLst>
              <a:path w="3725333" h="2413000">
                <a:moveTo>
                  <a:pt x="135466" y="0"/>
                </a:moveTo>
                <a:lnTo>
                  <a:pt x="3589868" y="0"/>
                </a:lnTo>
                <a:cubicBezTo>
                  <a:pt x="3664683" y="0"/>
                  <a:pt x="3725333" y="60650"/>
                  <a:pt x="3725333" y="135466"/>
                </a:cubicBezTo>
                <a:lnTo>
                  <a:pt x="3725333" y="2277534"/>
                </a:lnTo>
                <a:cubicBezTo>
                  <a:pt x="3725333" y="2352350"/>
                  <a:pt x="3664683" y="2413000"/>
                  <a:pt x="3589868" y="2413000"/>
                </a:cubicBezTo>
                <a:lnTo>
                  <a:pt x="135466" y="2413000"/>
                </a:lnTo>
                <a:cubicBezTo>
                  <a:pt x="60650" y="2413000"/>
                  <a:pt x="0" y="2352350"/>
                  <a:pt x="0" y="2277534"/>
                </a:cubicBezTo>
                <a:lnTo>
                  <a:pt x="0" y="135466"/>
                </a:lnTo>
                <a:cubicBezTo>
                  <a:pt x="0" y="60700"/>
                  <a:pt x="60700" y="0"/>
                  <a:pt x="13546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27000" dist="84667" dir="5400000">
              <a:srgbClr val="000000">
                <a:alpha val="10196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876367" y="4864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246533" y="5304367"/>
            <a:ext cx="34882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 Impact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263467" y="5676900"/>
            <a:ext cx="34544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6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engineered features: </a:t>
            </a:r>
            <a:pPr algn="ctr">
              <a:lnSpc>
                <a:spcPct val="140000"/>
              </a:lnSpc>
            </a:pPr>
            <a:r>
              <a:rPr lang="en-US" sz="106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47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263467" y="5897033"/>
            <a:ext cx="34544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6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features: </a:t>
            </a:r>
            <a:pPr algn="ctr">
              <a:lnSpc>
                <a:spcPct val="140000"/>
              </a:lnSpc>
            </a:pPr>
            <a:r>
              <a:rPr lang="en-US" sz="106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263467" y="6218767"/>
            <a:ext cx="34544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6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expansion improved model performance by </a:t>
            </a:r>
            <a:pPr algn="ctr">
              <a:lnSpc>
                <a:spcPct val="140000"/>
              </a:lnSpc>
            </a:pPr>
            <a:r>
              <a:rPr lang="en-US" sz="106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394495" y="6447367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354934"/>
            <a:ext cx="11544245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spc="98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Model Selection &amp;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638882"/>
            <a:ext cx="11695092" cy="42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Classification Algorithms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934" y="1277764"/>
            <a:ext cx="6388821" cy="5581345"/>
          </a:xfrm>
          <a:custGeom>
            <a:avLst/>
            <a:gdLst/>
            <a:ahLst/>
            <a:cxnLst/>
            <a:rect l="l" t="t" r="r" b="b"/>
            <a:pathLst>
              <a:path w="6388821" h="5581345">
                <a:moveTo>
                  <a:pt x="141989" y="0"/>
                </a:moveTo>
                <a:lnTo>
                  <a:pt x="6246832" y="0"/>
                </a:lnTo>
                <a:cubicBezTo>
                  <a:pt x="6325198" y="0"/>
                  <a:pt x="6388821" y="63623"/>
                  <a:pt x="6388821" y="141989"/>
                </a:cubicBezTo>
                <a:lnTo>
                  <a:pt x="6388821" y="5439356"/>
                </a:lnTo>
                <a:cubicBezTo>
                  <a:pt x="6388821" y="5517774"/>
                  <a:pt x="6325250" y="5581345"/>
                  <a:pt x="6246832" y="5581345"/>
                </a:cubicBezTo>
                <a:lnTo>
                  <a:pt x="141989" y="5581345"/>
                </a:lnTo>
                <a:cubicBezTo>
                  <a:pt x="63623" y="5581345"/>
                  <a:pt x="0" y="5517722"/>
                  <a:pt x="0" y="5439356"/>
                </a:cubicBezTo>
                <a:lnTo>
                  <a:pt x="0" y="141989"/>
                </a:lnTo>
                <a:cubicBezTo>
                  <a:pt x="0" y="63571"/>
                  <a:pt x="63571" y="0"/>
                  <a:pt x="1419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620" dist="8873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7895" y="1490725"/>
            <a:ext cx="6051633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 dirty="0"/>
          </a:p>
        </p:txBody>
      </p:sp>
      <p:pic>
        <p:nvPicPr>
          <p:cNvPr id="6" name="Image 0" descr="https://kimi-img.moonshot.cn/pub/slides/26-02-13-06:27:48-d6757p27ch907mv7egt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7895" y="1881153"/>
            <a:ext cx="5501485" cy="4764996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958657" y="1277764"/>
            <a:ext cx="4880349" cy="3664699"/>
          </a:xfrm>
          <a:custGeom>
            <a:avLst/>
            <a:gdLst/>
            <a:ahLst/>
            <a:cxnLst/>
            <a:rect l="l" t="t" r="r" b="b"/>
            <a:pathLst>
              <a:path w="4880349" h="3664699">
                <a:moveTo>
                  <a:pt x="141970" y="0"/>
                </a:moveTo>
                <a:lnTo>
                  <a:pt x="4738379" y="0"/>
                </a:lnTo>
                <a:cubicBezTo>
                  <a:pt x="4816787" y="0"/>
                  <a:pt x="4880349" y="63562"/>
                  <a:pt x="4880349" y="141970"/>
                </a:cubicBezTo>
                <a:lnTo>
                  <a:pt x="4880349" y="3522728"/>
                </a:lnTo>
                <a:cubicBezTo>
                  <a:pt x="4880349" y="3601136"/>
                  <a:pt x="4816787" y="3664699"/>
                  <a:pt x="4738379" y="3664699"/>
                </a:cubicBezTo>
                <a:lnTo>
                  <a:pt x="141970" y="3664699"/>
                </a:lnTo>
                <a:cubicBezTo>
                  <a:pt x="63562" y="3664699"/>
                  <a:pt x="0" y="3601136"/>
                  <a:pt x="0" y="3522728"/>
                </a:cubicBezTo>
                <a:lnTo>
                  <a:pt x="0" y="141970"/>
                </a:lnTo>
                <a:cubicBezTo>
                  <a:pt x="0" y="63562"/>
                  <a:pt x="63562" y="0"/>
                  <a:pt x="1419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620" dist="8873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6124" y="1455231"/>
            <a:ext cx="460527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36124" y="2240524"/>
            <a:ext cx="4525415" cy="8873"/>
          </a:xfrm>
          <a:custGeom>
            <a:avLst/>
            <a:gdLst/>
            <a:ahLst/>
            <a:cxnLst/>
            <a:rect l="l" t="t" r="r" b="b"/>
            <a:pathLst>
              <a:path w="4525415" h="8873">
                <a:moveTo>
                  <a:pt x="0" y="0"/>
                </a:moveTo>
                <a:lnTo>
                  <a:pt x="4525415" y="0"/>
                </a:lnTo>
                <a:lnTo>
                  <a:pt x="452541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7136124" y="1934393"/>
            <a:ext cx="754236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40822" y="1916646"/>
            <a:ext cx="1120717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36124" y="2746306"/>
            <a:ext cx="4525415" cy="8873"/>
          </a:xfrm>
          <a:custGeom>
            <a:avLst/>
            <a:gdLst/>
            <a:ahLst/>
            <a:cxnLst/>
            <a:rect l="l" t="t" r="r" b="b"/>
            <a:pathLst>
              <a:path w="4525415" h="8873">
                <a:moveTo>
                  <a:pt x="0" y="0"/>
                </a:moveTo>
                <a:lnTo>
                  <a:pt x="4525415" y="0"/>
                </a:lnTo>
                <a:lnTo>
                  <a:pt x="452541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3" name="Text 10"/>
          <p:cNvSpPr/>
          <p:nvPr/>
        </p:nvSpPr>
        <p:spPr>
          <a:xfrm>
            <a:off x="7136124" y="2440175"/>
            <a:ext cx="647755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211701" y="2422428"/>
            <a:ext cx="532402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89.3%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36124" y="3252087"/>
            <a:ext cx="4525415" cy="8873"/>
          </a:xfrm>
          <a:custGeom>
            <a:avLst/>
            <a:gdLst/>
            <a:ahLst/>
            <a:cxnLst/>
            <a:rect l="l" t="t" r="r" b="b"/>
            <a:pathLst>
              <a:path w="4525415" h="8873">
                <a:moveTo>
                  <a:pt x="0" y="0"/>
                </a:moveTo>
                <a:lnTo>
                  <a:pt x="4525415" y="0"/>
                </a:lnTo>
                <a:lnTo>
                  <a:pt x="452541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6" name="Text 13"/>
          <p:cNvSpPr/>
          <p:nvPr/>
        </p:nvSpPr>
        <p:spPr>
          <a:xfrm>
            <a:off x="7136124" y="2945956"/>
            <a:ext cx="621135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222724" y="2928210"/>
            <a:ext cx="51465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67.8%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36124" y="3757869"/>
            <a:ext cx="4525415" cy="8873"/>
          </a:xfrm>
          <a:custGeom>
            <a:avLst/>
            <a:gdLst/>
            <a:ahLst/>
            <a:cxnLst/>
            <a:rect l="l" t="t" r="r" b="b"/>
            <a:pathLst>
              <a:path w="4525415" h="8873">
                <a:moveTo>
                  <a:pt x="0" y="0"/>
                </a:moveTo>
                <a:lnTo>
                  <a:pt x="4525415" y="0"/>
                </a:lnTo>
                <a:lnTo>
                  <a:pt x="452541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9" name="Text 16"/>
          <p:cNvSpPr/>
          <p:nvPr/>
        </p:nvSpPr>
        <p:spPr>
          <a:xfrm>
            <a:off x="7136124" y="3451738"/>
            <a:ext cx="434795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259673" y="3433991"/>
            <a:ext cx="479162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52.5%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36124" y="4263651"/>
            <a:ext cx="4525415" cy="8873"/>
          </a:xfrm>
          <a:custGeom>
            <a:avLst/>
            <a:gdLst/>
            <a:ahLst/>
            <a:cxnLst/>
            <a:rect l="l" t="t" r="r" b="b"/>
            <a:pathLst>
              <a:path w="4525415" h="8873">
                <a:moveTo>
                  <a:pt x="0" y="0"/>
                </a:moveTo>
                <a:lnTo>
                  <a:pt x="4525415" y="0"/>
                </a:lnTo>
                <a:lnTo>
                  <a:pt x="452541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2" name="Text 19"/>
          <p:cNvSpPr/>
          <p:nvPr/>
        </p:nvSpPr>
        <p:spPr>
          <a:xfrm>
            <a:off x="7136124" y="3957520"/>
            <a:ext cx="603389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226606" y="3939773"/>
            <a:ext cx="51465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59.2%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36124" y="4463301"/>
            <a:ext cx="700996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29273" y="4445555"/>
            <a:ext cx="40817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0.88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958657" y="5084437"/>
            <a:ext cx="4880349" cy="1774672"/>
          </a:xfrm>
          <a:custGeom>
            <a:avLst/>
            <a:gdLst/>
            <a:ahLst/>
            <a:cxnLst/>
            <a:rect l="l" t="t" r="r" b="b"/>
            <a:pathLst>
              <a:path w="4880349" h="1774672">
                <a:moveTo>
                  <a:pt x="141974" y="0"/>
                </a:moveTo>
                <a:lnTo>
                  <a:pt x="4738376" y="0"/>
                </a:lnTo>
                <a:cubicBezTo>
                  <a:pt x="4816786" y="0"/>
                  <a:pt x="4880349" y="63564"/>
                  <a:pt x="4880349" y="141974"/>
                </a:cubicBezTo>
                <a:lnTo>
                  <a:pt x="4880349" y="1632699"/>
                </a:lnTo>
                <a:cubicBezTo>
                  <a:pt x="4880349" y="1711109"/>
                  <a:pt x="4816786" y="1774672"/>
                  <a:pt x="4738376" y="1774672"/>
                </a:cubicBezTo>
                <a:lnTo>
                  <a:pt x="141974" y="1774672"/>
                </a:lnTo>
                <a:cubicBezTo>
                  <a:pt x="63616" y="1774672"/>
                  <a:pt x="0" y="1711056"/>
                  <a:pt x="0" y="1632699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33100" dist="88734" dir="5400000">
              <a:srgbClr val="000000">
                <a:alpha val="10196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36124" y="5261904"/>
            <a:ext cx="460527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Random Forest?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153871" y="5652332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94390" y="58980"/>
                </a:moveTo>
                <a:lnTo>
                  <a:pt x="72207" y="94474"/>
                </a:lnTo>
                <a:cubicBezTo>
                  <a:pt x="71042" y="96331"/>
                  <a:pt x="69046" y="97496"/>
                  <a:pt x="66855" y="97607"/>
                </a:cubicBezTo>
                <a:cubicBezTo>
                  <a:pt x="64665" y="97718"/>
                  <a:pt x="62557" y="96720"/>
                  <a:pt x="61254" y="94945"/>
                </a:cubicBezTo>
                <a:lnTo>
                  <a:pt x="47944" y="77198"/>
                </a:lnTo>
                <a:cubicBezTo>
                  <a:pt x="45726" y="74259"/>
                  <a:pt x="46336" y="70100"/>
                  <a:pt x="49275" y="67881"/>
                </a:cubicBezTo>
                <a:cubicBezTo>
                  <a:pt x="52214" y="65663"/>
                  <a:pt x="56374" y="66273"/>
                  <a:pt x="58592" y="69212"/>
                </a:cubicBezTo>
                <a:lnTo>
                  <a:pt x="66079" y="79195"/>
                </a:lnTo>
                <a:lnTo>
                  <a:pt x="83105" y="51937"/>
                </a:lnTo>
                <a:cubicBezTo>
                  <a:pt x="85046" y="48831"/>
                  <a:pt x="89150" y="47861"/>
                  <a:pt x="92283" y="49829"/>
                </a:cubicBezTo>
                <a:cubicBezTo>
                  <a:pt x="95416" y="51798"/>
                  <a:pt x="96359" y="55874"/>
                  <a:pt x="94390" y="590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384579" y="5616838"/>
            <a:ext cx="224496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class imbalance effectively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153871" y="5936279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94390" y="58980"/>
                </a:moveTo>
                <a:lnTo>
                  <a:pt x="72207" y="94474"/>
                </a:lnTo>
                <a:cubicBezTo>
                  <a:pt x="71042" y="96331"/>
                  <a:pt x="69046" y="97496"/>
                  <a:pt x="66855" y="97607"/>
                </a:cubicBezTo>
                <a:cubicBezTo>
                  <a:pt x="64665" y="97718"/>
                  <a:pt x="62557" y="96720"/>
                  <a:pt x="61254" y="94945"/>
                </a:cubicBezTo>
                <a:lnTo>
                  <a:pt x="47944" y="77198"/>
                </a:lnTo>
                <a:cubicBezTo>
                  <a:pt x="45726" y="74259"/>
                  <a:pt x="46336" y="70100"/>
                  <a:pt x="49275" y="67881"/>
                </a:cubicBezTo>
                <a:cubicBezTo>
                  <a:pt x="52214" y="65663"/>
                  <a:pt x="56374" y="66273"/>
                  <a:pt x="58592" y="69212"/>
                </a:cubicBezTo>
                <a:lnTo>
                  <a:pt x="66079" y="79195"/>
                </a:lnTo>
                <a:lnTo>
                  <a:pt x="83105" y="51937"/>
                </a:lnTo>
                <a:cubicBezTo>
                  <a:pt x="85046" y="48831"/>
                  <a:pt x="89150" y="47861"/>
                  <a:pt x="92283" y="49829"/>
                </a:cubicBezTo>
                <a:cubicBezTo>
                  <a:pt x="95416" y="51798"/>
                  <a:pt x="96359" y="55874"/>
                  <a:pt x="94390" y="590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7384579" y="5900786"/>
            <a:ext cx="172143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feature importance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153871" y="6220227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94390" y="58980"/>
                </a:moveTo>
                <a:lnTo>
                  <a:pt x="72207" y="94474"/>
                </a:lnTo>
                <a:cubicBezTo>
                  <a:pt x="71042" y="96331"/>
                  <a:pt x="69046" y="97496"/>
                  <a:pt x="66855" y="97607"/>
                </a:cubicBezTo>
                <a:cubicBezTo>
                  <a:pt x="64665" y="97718"/>
                  <a:pt x="62557" y="96720"/>
                  <a:pt x="61254" y="94945"/>
                </a:cubicBezTo>
                <a:lnTo>
                  <a:pt x="47944" y="77198"/>
                </a:lnTo>
                <a:cubicBezTo>
                  <a:pt x="45726" y="74259"/>
                  <a:pt x="46336" y="70100"/>
                  <a:pt x="49275" y="67881"/>
                </a:cubicBezTo>
                <a:cubicBezTo>
                  <a:pt x="52214" y="65663"/>
                  <a:pt x="56374" y="66273"/>
                  <a:pt x="58592" y="69212"/>
                </a:cubicBezTo>
                <a:lnTo>
                  <a:pt x="66079" y="79195"/>
                </a:lnTo>
                <a:lnTo>
                  <a:pt x="83105" y="51937"/>
                </a:lnTo>
                <a:cubicBezTo>
                  <a:pt x="85046" y="48831"/>
                  <a:pt x="89150" y="47861"/>
                  <a:pt x="92283" y="49829"/>
                </a:cubicBezTo>
                <a:cubicBezTo>
                  <a:pt x="95416" y="51798"/>
                  <a:pt x="96359" y="55874"/>
                  <a:pt x="94390" y="590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7384579" y="6184734"/>
            <a:ext cx="1579459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to missing values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153871" y="6504175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94390" y="58980"/>
                </a:moveTo>
                <a:lnTo>
                  <a:pt x="72207" y="94474"/>
                </a:lnTo>
                <a:cubicBezTo>
                  <a:pt x="71042" y="96331"/>
                  <a:pt x="69046" y="97496"/>
                  <a:pt x="66855" y="97607"/>
                </a:cubicBezTo>
                <a:cubicBezTo>
                  <a:pt x="64665" y="97718"/>
                  <a:pt x="62557" y="96720"/>
                  <a:pt x="61254" y="94945"/>
                </a:cubicBezTo>
                <a:lnTo>
                  <a:pt x="47944" y="77198"/>
                </a:lnTo>
                <a:cubicBezTo>
                  <a:pt x="45726" y="74259"/>
                  <a:pt x="46336" y="70100"/>
                  <a:pt x="49275" y="67881"/>
                </a:cubicBezTo>
                <a:cubicBezTo>
                  <a:pt x="52214" y="65663"/>
                  <a:pt x="56374" y="66273"/>
                  <a:pt x="58592" y="69212"/>
                </a:cubicBezTo>
                <a:lnTo>
                  <a:pt x="66079" y="79195"/>
                </a:lnTo>
                <a:lnTo>
                  <a:pt x="83105" y="51937"/>
                </a:lnTo>
                <a:cubicBezTo>
                  <a:pt x="85046" y="48831"/>
                  <a:pt x="89150" y="47861"/>
                  <a:pt x="92283" y="49829"/>
                </a:cubicBezTo>
                <a:cubicBezTo>
                  <a:pt x="95416" y="51798"/>
                  <a:pt x="96359" y="55874"/>
                  <a:pt x="94390" y="590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384579" y="6468681"/>
            <a:ext cx="1606079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training &amp; prediction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380168" y="6504175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spc="101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Key Predictors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56562"/>
            <a:ext cx="1168134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Drives Olympic Success?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313125"/>
            <a:ext cx="6383246" cy="5544305"/>
          </a:xfrm>
          <a:custGeom>
            <a:avLst/>
            <a:gdLst/>
            <a:ahLst/>
            <a:cxnLst/>
            <a:rect l="l" t="t" r="r" b="b"/>
            <a:pathLst>
              <a:path w="6383246" h="5544305">
                <a:moveTo>
                  <a:pt x="145926" y="0"/>
                </a:moveTo>
                <a:lnTo>
                  <a:pt x="6237320" y="0"/>
                </a:lnTo>
                <a:cubicBezTo>
                  <a:pt x="6317913" y="0"/>
                  <a:pt x="6383246" y="65333"/>
                  <a:pt x="6383246" y="145926"/>
                </a:cubicBezTo>
                <a:lnTo>
                  <a:pt x="6383246" y="5398379"/>
                </a:lnTo>
                <a:cubicBezTo>
                  <a:pt x="6383246" y="5478972"/>
                  <a:pt x="6317913" y="5544305"/>
                  <a:pt x="6237320" y="5544305"/>
                </a:cubicBezTo>
                <a:lnTo>
                  <a:pt x="145926" y="5544305"/>
                </a:lnTo>
                <a:cubicBezTo>
                  <a:pt x="65333" y="5544305"/>
                  <a:pt x="0" y="5478972"/>
                  <a:pt x="0" y="5398379"/>
                </a:cubicBezTo>
                <a:lnTo>
                  <a:pt x="0" y="145926"/>
                </a:lnTo>
                <a:cubicBezTo>
                  <a:pt x="0" y="65387"/>
                  <a:pt x="65387" y="0"/>
                  <a:pt x="1459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357" dist="9119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3611" y="1531979"/>
            <a:ext cx="603672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15 Feature Importance (XGBoost)</a:t>
            </a:r>
            <a:endParaRPr lang="en-US" sz="1600" dirty="0"/>
          </a:p>
        </p:txBody>
      </p:sp>
      <p:pic>
        <p:nvPicPr>
          <p:cNvPr id="6" name="Image 0" descr="https://kimi-img.moonshot.cn/pub/slides/26-02-13-06:27:48-d6757p4omnm6k968kh3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11" y="1933212"/>
            <a:ext cx="5653732" cy="4705364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964007" y="1313125"/>
            <a:ext cx="4860386" cy="3209861"/>
          </a:xfrm>
          <a:custGeom>
            <a:avLst/>
            <a:gdLst/>
            <a:ahLst/>
            <a:cxnLst/>
            <a:rect l="l" t="t" r="r" b="b"/>
            <a:pathLst>
              <a:path w="4860386" h="3209861">
                <a:moveTo>
                  <a:pt x="145888" y="0"/>
                </a:moveTo>
                <a:lnTo>
                  <a:pt x="4714498" y="0"/>
                </a:lnTo>
                <a:cubicBezTo>
                  <a:pt x="4795070" y="0"/>
                  <a:pt x="4860386" y="65316"/>
                  <a:pt x="4860386" y="145888"/>
                </a:cubicBezTo>
                <a:lnTo>
                  <a:pt x="4860386" y="3063973"/>
                </a:lnTo>
                <a:cubicBezTo>
                  <a:pt x="4860386" y="3144545"/>
                  <a:pt x="4795070" y="3209861"/>
                  <a:pt x="4714498" y="3209861"/>
                </a:cubicBezTo>
                <a:lnTo>
                  <a:pt x="145888" y="3209861"/>
                </a:lnTo>
                <a:cubicBezTo>
                  <a:pt x="65316" y="3209861"/>
                  <a:pt x="0" y="3144545"/>
                  <a:pt x="0" y="3063973"/>
                </a:cubicBezTo>
                <a:lnTo>
                  <a:pt x="0" y="145888"/>
                </a:lnTo>
                <a:cubicBezTo>
                  <a:pt x="0" y="65316"/>
                  <a:pt x="65316" y="0"/>
                  <a:pt x="1458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357" dist="9119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46386" y="1495503"/>
            <a:ext cx="457769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Predictors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46386" y="1914974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7"/>
          <p:cNvSpPr/>
          <p:nvPr/>
        </p:nvSpPr>
        <p:spPr>
          <a:xfrm>
            <a:off x="7305611" y="1987925"/>
            <a:ext cx="11854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57046" y="1896736"/>
            <a:ext cx="405792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Country Historical Medal Rate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57046" y="2115590"/>
            <a:ext cx="404880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Importance: 18.4%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46386" y="2425634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291576" y="2498585"/>
            <a:ext cx="14590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57046" y="2407396"/>
            <a:ext cx="405792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Sport-Specific Experience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57046" y="2626250"/>
            <a:ext cx="404880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Importance: 14.2%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46386" y="2936293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6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289724" y="3009245"/>
            <a:ext cx="15502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57046" y="2918055"/>
            <a:ext cx="405792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Athlete Previous Medals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57046" y="3136909"/>
            <a:ext cx="404880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Importance: 12.7%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46386" y="3446953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4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291648" y="3519904"/>
            <a:ext cx="14590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57046" y="3428715"/>
            <a:ext cx="405792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BMI (Sport-Adjusted)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57046" y="3647569"/>
            <a:ext cx="404880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Importance: 9.8%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146386" y="3957613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289510" y="4030564"/>
            <a:ext cx="15502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57046" y="3939375"/>
            <a:ext cx="405792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Category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57046" y="4158229"/>
            <a:ext cx="404880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Importance: 8.3%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964007" y="4668889"/>
            <a:ext cx="4860386" cy="2188542"/>
          </a:xfrm>
          <a:custGeom>
            <a:avLst/>
            <a:gdLst/>
            <a:ahLst/>
            <a:cxnLst/>
            <a:rect l="l" t="t" r="r" b="b"/>
            <a:pathLst>
              <a:path w="4860386" h="2188542">
                <a:moveTo>
                  <a:pt x="145910" y="0"/>
                </a:moveTo>
                <a:lnTo>
                  <a:pt x="4714476" y="0"/>
                </a:lnTo>
                <a:cubicBezTo>
                  <a:pt x="4795060" y="0"/>
                  <a:pt x="4860386" y="65326"/>
                  <a:pt x="4860386" y="145910"/>
                </a:cubicBezTo>
                <a:lnTo>
                  <a:pt x="4860386" y="2042631"/>
                </a:lnTo>
                <a:cubicBezTo>
                  <a:pt x="4860386" y="2123215"/>
                  <a:pt x="4795060" y="2188542"/>
                  <a:pt x="4714476" y="2188542"/>
                </a:cubicBezTo>
                <a:lnTo>
                  <a:pt x="145910" y="2188542"/>
                </a:lnTo>
                <a:cubicBezTo>
                  <a:pt x="65326" y="2188542"/>
                  <a:pt x="0" y="2123215"/>
                  <a:pt x="0" y="2042631"/>
                </a:cubicBezTo>
                <a:lnTo>
                  <a:pt x="0" y="145910"/>
                </a:lnTo>
                <a:cubicBezTo>
                  <a:pt x="0" y="65380"/>
                  <a:pt x="65380" y="0"/>
                  <a:pt x="145910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1D1D1F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146386" y="4851267"/>
            <a:ext cx="457769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55505" y="5252500"/>
            <a:ext cx="164141" cy="145903"/>
          </a:xfrm>
          <a:custGeom>
            <a:avLst/>
            <a:gdLst/>
            <a:ahLst/>
            <a:cxnLst/>
            <a:rect l="l" t="t" r="r" b="b"/>
            <a:pathLst>
              <a:path w="164141" h="145903">
                <a:moveTo>
                  <a:pt x="88197" y="-5386"/>
                </a:moveTo>
                <a:cubicBezTo>
                  <a:pt x="87029" y="-7666"/>
                  <a:pt x="84664" y="-9119"/>
                  <a:pt x="82099" y="-9119"/>
                </a:cubicBezTo>
                <a:cubicBezTo>
                  <a:pt x="79534" y="-9119"/>
                  <a:pt x="77169" y="-7666"/>
                  <a:pt x="76001" y="-5386"/>
                </a:cubicBezTo>
                <a:lnTo>
                  <a:pt x="55027" y="35706"/>
                </a:lnTo>
                <a:lnTo>
                  <a:pt x="9461" y="42944"/>
                </a:lnTo>
                <a:cubicBezTo>
                  <a:pt x="6925" y="43343"/>
                  <a:pt x="4816" y="45139"/>
                  <a:pt x="4018" y="47589"/>
                </a:cubicBezTo>
                <a:cubicBezTo>
                  <a:pt x="3220" y="50040"/>
                  <a:pt x="3876" y="52719"/>
                  <a:pt x="5671" y="54543"/>
                </a:cubicBezTo>
                <a:lnTo>
                  <a:pt x="38271" y="87171"/>
                </a:lnTo>
                <a:lnTo>
                  <a:pt x="31090" y="132737"/>
                </a:lnTo>
                <a:cubicBezTo>
                  <a:pt x="30691" y="135274"/>
                  <a:pt x="31745" y="137838"/>
                  <a:pt x="33826" y="139349"/>
                </a:cubicBezTo>
                <a:cubicBezTo>
                  <a:pt x="35906" y="140859"/>
                  <a:pt x="38641" y="141087"/>
                  <a:pt x="40950" y="139918"/>
                </a:cubicBezTo>
                <a:lnTo>
                  <a:pt x="82099" y="119002"/>
                </a:lnTo>
                <a:lnTo>
                  <a:pt x="123219" y="139918"/>
                </a:lnTo>
                <a:cubicBezTo>
                  <a:pt x="125499" y="141087"/>
                  <a:pt x="128263" y="140859"/>
                  <a:pt x="130344" y="139349"/>
                </a:cubicBezTo>
                <a:cubicBezTo>
                  <a:pt x="132424" y="137838"/>
                  <a:pt x="133478" y="135302"/>
                  <a:pt x="133079" y="132737"/>
                </a:cubicBezTo>
                <a:lnTo>
                  <a:pt x="125870" y="87171"/>
                </a:lnTo>
                <a:lnTo>
                  <a:pt x="158470" y="54543"/>
                </a:lnTo>
                <a:cubicBezTo>
                  <a:pt x="160294" y="52719"/>
                  <a:pt x="160920" y="50040"/>
                  <a:pt x="160123" y="47589"/>
                </a:cubicBezTo>
                <a:cubicBezTo>
                  <a:pt x="159325" y="45139"/>
                  <a:pt x="157244" y="43343"/>
                  <a:pt x="154680" y="42944"/>
                </a:cubicBezTo>
                <a:lnTo>
                  <a:pt x="109142" y="35706"/>
                </a:lnTo>
                <a:lnTo>
                  <a:pt x="88197" y="-538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29"/>
          <p:cNvSpPr/>
          <p:nvPr/>
        </p:nvSpPr>
        <p:spPr>
          <a:xfrm>
            <a:off x="7401716" y="5216024"/>
            <a:ext cx="4313251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Country matters most: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18.4% of prediction power comes from national Olympic history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155505" y="5763159"/>
            <a:ext cx="164141" cy="145903"/>
          </a:xfrm>
          <a:custGeom>
            <a:avLst/>
            <a:gdLst/>
            <a:ahLst/>
            <a:cxnLst/>
            <a:rect l="l" t="t" r="r" b="b"/>
            <a:pathLst>
              <a:path w="164141" h="145903">
                <a:moveTo>
                  <a:pt x="88197" y="-5386"/>
                </a:moveTo>
                <a:cubicBezTo>
                  <a:pt x="87029" y="-7666"/>
                  <a:pt x="84664" y="-9119"/>
                  <a:pt x="82099" y="-9119"/>
                </a:cubicBezTo>
                <a:cubicBezTo>
                  <a:pt x="79534" y="-9119"/>
                  <a:pt x="77169" y="-7666"/>
                  <a:pt x="76001" y="-5386"/>
                </a:cubicBezTo>
                <a:lnTo>
                  <a:pt x="55027" y="35706"/>
                </a:lnTo>
                <a:lnTo>
                  <a:pt x="9461" y="42944"/>
                </a:lnTo>
                <a:cubicBezTo>
                  <a:pt x="6925" y="43343"/>
                  <a:pt x="4816" y="45139"/>
                  <a:pt x="4018" y="47589"/>
                </a:cubicBezTo>
                <a:cubicBezTo>
                  <a:pt x="3220" y="50040"/>
                  <a:pt x="3876" y="52719"/>
                  <a:pt x="5671" y="54543"/>
                </a:cubicBezTo>
                <a:lnTo>
                  <a:pt x="38271" y="87171"/>
                </a:lnTo>
                <a:lnTo>
                  <a:pt x="31090" y="132737"/>
                </a:lnTo>
                <a:cubicBezTo>
                  <a:pt x="30691" y="135274"/>
                  <a:pt x="31745" y="137838"/>
                  <a:pt x="33826" y="139349"/>
                </a:cubicBezTo>
                <a:cubicBezTo>
                  <a:pt x="35906" y="140859"/>
                  <a:pt x="38641" y="141087"/>
                  <a:pt x="40950" y="139918"/>
                </a:cubicBezTo>
                <a:lnTo>
                  <a:pt x="82099" y="119002"/>
                </a:lnTo>
                <a:lnTo>
                  <a:pt x="123219" y="139918"/>
                </a:lnTo>
                <a:cubicBezTo>
                  <a:pt x="125499" y="141087"/>
                  <a:pt x="128263" y="140859"/>
                  <a:pt x="130344" y="139349"/>
                </a:cubicBezTo>
                <a:cubicBezTo>
                  <a:pt x="132424" y="137838"/>
                  <a:pt x="133478" y="135302"/>
                  <a:pt x="133079" y="132737"/>
                </a:cubicBezTo>
                <a:lnTo>
                  <a:pt x="125870" y="87171"/>
                </a:lnTo>
                <a:lnTo>
                  <a:pt x="158470" y="54543"/>
                </a:lnTo>
                <a:cubicBezTo>
                  <a:pt x="160294" y="52719"/>
                  <a:pt x="160920" y="50040"/>
                  <a:pt x="160123" y="47589"/>
                </a:cubicBezTo>
                <a:cubicBezTo>
                  <a:pt x="159325" y="45139"/>
                  <a:pt x="157244" y="43343"/>
                  <a:pt x="154680" y="42944"/>
                </a:cubicBezTo>
                <a:lnTo>
                  <a:pt x="109142" y="35706"/>
                </a:lnTo>
                <a:lnTo>
                  <a:pt x="88197" y="-538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1"/>
          <p:cNvSpPr/>
          <p:nvPr/>
        </p:nvSpPr>
        <p:spPr>
          <a:xfrm>
            <a:off x="7401716" y="5726684"/>
            <a:ext cx="4313251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 counts: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Prior medals and Olympic appearances are strong predictors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155505" y="6273819"/>
            <a:ext cx="164141" cy="145903"/>
          </a:xfrm>
          <a:custGeom>
            <a:avLst/>
            <a:gdLst/>
            <a:ahLst/>
            <a:cxnLst/>
            <a:rect l="l" t="t" r="r" b="b"/>
            <a:pathLst>
              <a:path w="164141" h="145903">
                <a:moveTo>
                  <a:pt x="88197" y="-5386"/>
                </a:moveTo>
                <a:cubicBezTo>
                  <a:pt x="87029" y="-7666"/>
                  <a:pt x="84664" y="-9119"/>
                  <a:pt x="82099" y="-9119"/>
                </a:cubicBezTo>
                <a:cubicBezTo>
                  <a:pt x="79534" y="-9119"/>
                  <a:pt x="77169" y="-7666"/>
                  <a:pt x="76001" y="-5386"/>
                </a:cubicBezTo>
                <a:lnTo>
                  <a:pt x="55027" y="35706"/>
                </a:lnTo>
                <a:lnTo>
                  <a:pt x="9461" y="42944"/>
                </a:lnTo>
                <a:cubicBezTo>
                  <a:pt x="6925" y="43343"/>
                  <a:pt x="4816" y="45139"/>
                  <a:pt x="4018" y="47589"/>
                </a:cubicBezTo>
                <a:cubicBezTo>
                  <a:pt x="3220" y="50040"/>
                  <a:pt x="3876" y="52719"/>
                  <a:pt x="5671" y="54543"/>
                </a:cubicBezTo>
                <a:lnTo>
                  <a:pt x="38271" y="87171"/>
                </a:lnTo>
                <a:lnTo>
                  <a:pt x="31090" y="132737"/>
                </a:lnTo>
                <a:cubicBezTo>
                  <a:pt x="30691" y="135274"/>
                  <a:pt x="31745" y="137838"/>
                  <a:pt x="33826" y="139349"/>
                </a:cubicBezTo>
                <a:cubicBezTo>
                  <a:pt x="35906" y="140859"/>
                  <a:pt x="38641" y="141087"/>
                  <a:pt x="40950" y="139918"/>
                </a:cubicBezTo>
                <a:lnTo>
                  <a:pt x="82099" y="119002"/>
                </a:lnTo>
                <a:lnTo>
                  <a:pt x="123219" y="139918"/>
                </a:lnTo>
                <a:cubicBezTo>
                  <a:pt x="125499" y="141087"/>
                  <a:pt x="128263" y="140859"/>
                  <a:pt x="130344" y="139349"/>
                </a:cubicBezTo>
                <a:cubicBezTo>
                  <a:pt x="132424" y="137838"/>
                  <a:pt x="133478" y="135302"/>
                  <a:pt x="133079" y="132737"/>
                </a:cubicBezTo>
                <a:lnTo>
                  <a:pt x="125870" y="87171"/>
                </a:lnTo>
                <a:lnTo>
                  <a:pt x="158470" y="54543"/>
                </a:lnTo>
                <a:cubicBezTo>
                  <a:pt x="160294" y="52719"/>
                  <a:pt x="160920" y="50040"/>
                  <a:pt x="160123" y="47589"/>
                </a:cubicBezTo>
                <a:cubicBezTo>
                  <a:pt x="159325" y="45139"/>
                  <a:pt x="157244" y="43343"/>
                  <a:pt x="154680" y="42944"/>
                </a:cubicBezTo>
                <a:lnTo>
                  <a:pt x="109142" y="35706"/>
                </a:lnTo>
                <a:lnTo>
                  <a:pt x="88197" y="-538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3"/>
          <p:cNvSpPr/>
          <p:nvPr/>
        </p:nvSpPr>
        <p:spPr>
          <a:xfrm>
            <a:off x="7401716" y="6237343"/>
            <a:ext cx="4313251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attributes: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Sport-appropriate BMI significantly impacts success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973398" y="6532671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Interpretation &amp;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Predictions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143000"/>
            <a:ext cx="5683250" cy="2794000"/>
          </a:xfrm>
          <a:custGeom>
            <a:avLst/>
            <a:gdLst/>
            <a:ahLst/>
            <a:cxnLst/>
            <a:rect l="l" t="t" r="r" b="b"/>
            <a:pathLst>
              <a:path w="5683250" h="2794000">
                <a:moveTo>
                  <a:pt x="126987" y="0"/>
                </a:moveTo>
                <a:lnTo>
                  <a:pt x="5556263" y="0"/>
                </a:lnTo>
                <a:cubicBezTo>
                  <a:pt x="5626396" y="0"/>
                  <a:pt x="5683250" y="56854"/>
                  <a:pt x="5683250" y="126987"/>
                </a:cubicBezTo>
                <a:lnTo>
                  <a:pt x="5683250" y="2667013"/>
                </a:lnTo>
                <a:cubicBezTo>
                  <a:pt x="5683250" y="2737146"/>
                  <a:pt x="5626396" y="2794000"/>
                  <a:pt x="5556263" y="2794000"/>
                </a:cubicBezTo>
                <a:lnTo>
                  <a:pt x="126987" y="2794000"/>
                </a:lnTo>
                <a:cubicBezTo>
                  <a:pt x="56854" y="2794000"/>
                  <a:pt x="0" y="2737146"/>
                  <a:pt x="0" y="266701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8000" y="1333500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Accuracy by Sport</a:t>
            </a:r>
            <a:endParaRPr lang="en-US" sz="1600" dirty="0"/>
          </a:p>
        </p:txBody>
      </p:sp>
      <p:pic>
        <p:nvPicPr>
          <p:cNvPr id="6" name="Image 0" descr="https://kimi-img.moonshot.cn/pub/slides/26-02-13-06:27:48-d6757p27ch907mv7egs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1682750"/>
            <a:ext cx="4286250" cy="206375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191250" y="1143000"/>
            <a:ext cx="5683250" cy="2794000"/>
          </a:xfrm>
          <a:custGeom>
            <a:avLst/>
            <a:gdLst/>
            <a:ahLst/>
            <a:cxnLst/>
            <a:rect l="l" t="t" r="r" b="b"/>
            <a:pathLst>
              <a:path w="5683250" h="2794000">
                <a:moveTo>
                  <a:pt x="126987" y="0"/>
                </a:moveTo>
                <a:lnTo>
                  <a:pt x="5556263" y="0"/>
                </a:lnTo>
                <a:cubicBezTo>
                  <a:pt x="5626396" y="0"/>
                  <a:pt x="5683250" y="56854"/>
                  <a:pt x="5683250" y="126987"/>
                </a:cubicBezTo>
                <a:lnTo>
                  <a:pt x="5683250" y="2667013"/>
                </a:lnTo>
                <a:cubicBezTo>
                  <a:pt x="5683250" y="2737146"/>
                  <a:pt x="5626396" y="2794000"/>
                  <a:pt x="5556263" y="2794000"/>
                </a:cubicBezTo>
                <a:lnTo>
                  <a:pt x="126987" y="2794000"/>
                </a:lnTo>
                <a:cubicBezTo>
                  <a:pt x="56854" y="2794000"/>
                  <a:pt x="0" y="2737146"/>
                  <a:pt x="0" y="266701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81750" y="1333500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Distribution of Medalists</a:t>
            </a:r>
            <a:endParaRPr lang="en-US" sz="1600" dirty="0"/>
          </a:p>
        </p:txBody>
      </p:sp>
      <p:pic>
        <p:nvPicPr>
          <p:cNvPr id="9" name="Image 1" descr="https://kimi-img.moonshot.cn/pub/slides/26-02-13-06:27:48-d6757p1g4pnt8po2nj9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1750" y="1682750"/>
            <a:ext cx="4286250" cy="206375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317500" y="4127500"/>
            <a:ext cx="5683250" cy="2794000"/>
          </a:xfrm>
          <a:custGeom>
            <a:avLst/>
            <a:gdLst/>
            <a:ahLst/>
            <a:cxnLst/>
            <a:rect l="l" t="t" r="r" b="b"/>
            <a:pathLst>
              <a:path w="5683250" h="2794000">
                <a:moveTo>
                  <a:pt x="126987" y="0"/>
                </a:moveTo>
                <a:lnTo>
                  <a:pt x="5556263" y="0"/>
                </a:lnTo>
                <a:cubicBezTo>
                  <a:pt x="5626396" y="0"/>
                  <a:pt x="5683250" y="56854"/>
                  <a:pt x="5683250" y="126987"/>
                </a:cubicBezTo>
                <a:lnTo>
                  <a:pt x="5683250" y="2667013"/>
                </a:lnTo>
                <a:cubicBezTo>
                  <a:pt x="5683250" y="2737146"/>
                  <a:pt x="5626396" y="2794000"/>
                  <a:pt x="5556263" y="2794000"/>
                </a:cubicBezTo>
                <a:lnTo>
                  <a:pt x="126987" y="2794000"/>
                </a:lnTo>
                <a:cubicBezTo>
                  <a:pt x="56854" y="2794000"/>
                  <a:pt x="0" y="2737146"/>
                  <a:pt x="0" y="266701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08000" y="4318000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vs Incorrect Predictions</a:t>
            </a:r>
            <a:endParaRPr lang="en-US" sz="1600" dirty="0"/>
          </a:p>
        </p:txBody>
      </p:sp>
      <p:pic>
        <p:nvPicPr>
          <p:cNvPr id="12" name="Image 2" descr="https://kimi-img.moonshot.cn/pub/slides/26-02-13-06:27:48-d6757p0ge03nkqhcsfb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000" y="4667250"/>
            <a:ext cx="4286250" cy="2063750"/>
          </a:xfrm>
          <a:prstGeom prst="roundRect">
            <a:avLst>
              <a:gd name="adj" fmla="val 0"/>
            </a:avLst>
          </a:prstGeom>
        </p:spPr>
      </p:pic>
      <p:sp>
        <p:nvSpPr>
          <p:cNvPr id="13" name="Shape 8"/>
          <p:cNvSpPr/>
          <p:nvPr/>
        </p:nvSpPr>
        <p:spPr>
          <a:xfrm>
            <a:off x="6191250" y="4127500"/>
            <a:ext cx="5683250" cy="2794000"/>
          </a:xfrm>
          <a:custGeom>
            <a:avLst/>
            <a:gdLst/>
            <a:ahLst/>
            <a:cxnLst/>
            <a:rect l="l" t="t" r="r" b="b"/>
            <a:pathLst>
              <a:path w="5683250" h="2794000">
                <a:moveTo>
                  <a:pt x="126987" y="0"/>
                </a:moveTo>
                <a:lnTo>
                  <a:pt x="5556263" y="0"/>
                </a:lnTo>
                <a:cubicBezTo>
                  <a:pt x="5626396" y="0"/>
                  <a:pt x="5683250" y="56854"/>
                  <a:pt x="5683250" y="126987"/>
                </a:cubicBezTo>
                <a:lnTo>
                  <a:pt x="5683250" y="2667013"/>
                </a:lnTo>
                <a:cubicBezTo>
                  <a:pt x="5683250" y="2737146"/>
                  <a:pt x="5626396" y="2794000"/>
                  <a:pt x="5556263" y="2794000"/>
                </a:cubicBezTo>
                <a:lnTo>
                  <a:pt x="126987" y="2794000"/>
                </a:lnTo>
                <a:cubicBezTo>
                  <a:pt x="56854" y="2794000"/>
                  <a:pt x="0" y="2737146"/>
                  <a:pt x="0" y="266701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381750" y="4318000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Interpretation Insights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381750" y="49926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6" name="Shape 11"/>
          <p:cNvSpPr/>
          <p:nvPr/>
        </p:nvSpPr>
        <p:spPr>
          <a:xfrm>
            <a:off x="6462117" y="5064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7" name="Text 12"/>
          <p:cNvSpPr/>
          <p:nvPr/>
        </p:nvSpPr>
        <p:spPr>
          <a:xfrm>
            <a:off x="6731000" y="4960938"/>
            <a:ext cx="481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Sports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731000" y="5183188"/>
            <a:ext cx="48180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prediction accuracy (89%) due to more consistent athlete performance patterns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381750" y="5516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6844" y="5588000"/>
            <a:ext cx="27781" cy="111125"/>
          </a:xfrm>
          <a:custGeom>
            <a:avLst/>
            <a:gdLst/>
            <a:ahLst/>
            <a:cxnLst/>
            <a:rect l="l" t="t" r="r" b="b"/>
            <a:pathLst>
              <a:path w="27781" h="111125">
                <a:moveTo>
                  <a:pt x="20836" y="6945"/>
                </a:moveTo>
                <a:cubicBezTo>
                  <a:pt x="20836" y="3104"/>
                  <a:pt x="17732" y="0"/>
                  <a:pt x="13891" y="0"/>
                </a:cubicBezTo>
                <a:cubicBezTo>
                  <a:pt x="10049" y="0"/>
                  <a:pt x="6945" y="3104"/>
                  <a:pt x="6945" y="6945"/>
                </a:cubicBezTo>
                <a:lnTo>
                  <a:pt x="6945" y="76398"/>
                </a:lnTo>
                <a:cubicBezTo>
                  <a:pt x="6945" y="80240"/>
                  <a:pt x="10049" y="83344"/>
                  <a:pt x="13891" y="83344"/>
                </a:cubicBezTo>
                <a:cubicBezTo>
                  <a:pt x="17732" y="83344"/>
                  <a:pt x="20836" y="80240"/>
                  <a:pt x="20836" y="76398"/>
                </a:cubicBezTo>
                <a:lnTo>
                  <a:pt x="20836" y="6945"/>
                </a:lnTo>
                <a:close/>
                <a:moveTo>
                  <a:pt x="13891" y="111125"/>
                </a:moveTo>
                <a:cubicBezTo>
                  <a:pt x="18687" y="111125"/>
                  <a:pt x="22572" y="107240"/>
                  <a:pt x="22572" y="102443"/>
                </a:cubicBezTo>
                <a:cubicBezTo>
                  <a:pt x="22572" y="97647"/>
                  <a:pt x="18687" y="93762"/>
                  <a:pt x="13891" y="93762"/>
                </a:cubicBezTo>
                <a:cubicBezTo>
                  <a:pt x="9094" y="93762"/>
                  <a:pt x="5209" y="97647"/>
                  <a:pt x="5209" y="102443"/>
                </a:cubicBezTo>
                <a:cubicBezTo>
                  <a:pt x="5209" y="107240"/>
                  <a:pt x="9094" y="111125"/>
                  <a:pt x="13891" y="111125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21" name="Text 16"/>
          <p:cNvSpPr/>
          <p:nvPr/>
        </p:nvSpPr>
        <p:spPr>
          <a:xfrm>
            <a:off x="6731000" y="5484813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Sports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31000" y="5707063"/>
            <a:ext cx="4079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accuracy (76%) due to team dynamics and unpredictable variables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381750" y="60404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6469063" y="6111875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0"/>
          <p:cNvSpPr/>
          <p:nvPr/>
        </p:nvSpPr>
        <p:spPr>
          <a:xfrm>
            <a:off x="6731000" y="6008688"/>
            <a:ext cx="377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Sweet Spot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731000" y="6230938"/>
            <a:ext cx="3770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medal probability at ages 23-28, declining significantly after 35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1090224" y="6604000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2281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spc="101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Limitations &amp; Future 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60018"/>
            <a:ext cx="11678653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6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Constraints &amp; Improvements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6677" y="1320036"/>
            <a:ext cx="5619320" cy="5536818"/>
          </a:xfrm>
          <a:custGeom>
            <a:avLst/>
            <a:gdLst/>
            <a:ahLst/>
            <a:cxnLst/>
            <a:rect l="l" t="t" r="r" b="b"/>
            <a:pathLst>
              <a:path w="5619320" h="5536818">
                <a:moveTo>
                  <a:pt x="146670" y="0"/>
                </a:moveTo>
                <a:lnTo>
                  <a:pt x="5472650" y="0"/>
                </a:lnTo>
                <a:cubicBezTo>
                  <a:pt x="5553654" y="0"/>
                  <a:pt x="5619320" y="65667"/>
                  <a:pt x="5619320" y="146670"/>
                </a:cubicBezTo>
                <a:lnTo>
                  <a:pt x="5619320" y="5390148"/>
                </a:lnTo>
                <a:cubicBezTo>
                  <a:pt x="5619320" y="5471152"/>
                  <a:pt x="5553654" y="5536818"/>
                  <a:pt x="5472650" y="5536818"/>
                </a:cubicBezTo>
                <a:lnTo>
                  <a:pt x="146670" y="5536818"/>
                </a:lnTo>
                <a:cubicBezTo>
                  <a:pt x="65667" y="5536818"/>
                  <a:pt x="0" y="5471152"/>
                  <a:pt x="0" y="5390148"/>
                </a:cubicBezTo>
                <a:lnTo>
                  <a:pt x="0" y="146670"/>
                </a:lnTo>
                <a:cubicBezTo>
                  <a:pt x="0" y="65667"/>
                  <a:pt x="65667" y="0"/>
                  <a:pt x="1466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501" dist="9167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6683" y="1540042"/>
            <a:ext cx="513347" cy="513347"/>
          </a:xfrm>
          <a:custGeom>
            <a:avLst/>
            <a:gdLst/>
            <a:ahLst/>
            <a:cxnLst/>
            <a:rect l="l" t="t" r="r" b="b"/>
            <a:pathLst>
              <a:path w="513347" h="513347">
                <a:moveTo>
                  <a:pt x="110005" y="0"/>
                </a:moveTo>
                <a:lnTo>
                  <a:pt x="403342" y="0"/>
                </a:lnTo>
                <a:cubicBezTo>
                  <a:pt x="464056" y="0"/>
                  <a:pt x="513347" y="49292"/>
                  <a:pt x="513347" y="110005"/>
                </a:cubicBezTo>
                <a:lnTo>
                  <a:pt x="513347" y="403342"/>
                </a:lnTo>
                <a:cubicBezTo>
                  <a:pt x="513347" y="464096"/>
                  <a:pt x="464096" y="513347"/>
                  <a:pt x="403342" y="513347"/>
                </a:cubicBezTo>
                <a:lnTo>
                  <a:pt x="110005" y="513347"/>
                </a:lnTo>
                <a:cubicBezTo>
                  <a:pt x="49251" y="513347"/>
                  <a:pt x="0" y="464096"/>
                  <a:pt x="0" y="403342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3353" y="1686713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220006"/>
                </a:moveTo>
                <a:cubicBezTo>
                  <a:pt x="170715" y="220006"/>
                  <a:pt x="220006" y="170715"/>
                  <a:pt x="220006" y="110003"/>
                </a:cubicBezTo>
                <a:cubicBezTo>
                  <a:pt x="220006" y="49291"/>
                  <a:pt x="170715" y="0"/>
                  <a:pt x="110003" y="0"/>
                </a:cubicBezTo>
                <a:cubicBezTo>
                  <a:pt x="49291" y="0"/>
                  <a:pt x="0" y="49291"/>
                  <a:pt x="0" y="110003"/>
                </a:cubicBezTo>
                <a:cubicBezTo>
                  <a:pt x="0" y="170715"/>
                  <a:pt x="49291" y="220006"/>
                  <a:pt x="110003" y="220006"/>
                </a:cubicBezTo>
                <a:close/>
                <a:moveTo>
                  <a:pt x="110003" y="58439"/>
                </a:moveTo>
                <a:cubicBezTo>
                  <a:pt x="115718" y="58439"/>
                  <a:pt x="120316" y="63037"/>
                  <a:pt x="120316" y="68752"/>
                </a:cubicBezTo>
                <a:lnTo>
                  <a:pt x="120316" y="116878"/>
                </a:lnTo>
                <a:cubicBezTo>
                  <a:pt x="120316" y="122593"/>
                  <a:pt x="115718" y="127191"/>
                  <a:pt x="110003" y="127191"/>
                </a:cubicBezTo>
                <a:cubicBezTo>
                  <a:pt x="104288" y="127191"/>
                  <a:pt x="99690" y="122593"/>
                  <a:pt x="99690" y="116878"/>
                </a:cubicBezTo>
                <a:lnTo>
                  <a:pt x="99690" y="68752"/>
                </a:lnTo>
                <a:cubicBezTo>
                  <a:pt x="99690" y="63037"/>
                  <a:pt x="104288" y="58439"/>
                  <a:pt x="110003" y="58439"/>
                </a:cubicBezTo>
                <a:close/>
                <a:moveTo>
                  <a:pt x="98530" y="151254"/>
                </a:moveTo>
                <a:cubicBezTo>
                  <a:pt x="98269" y="146996"/>
                  <a:pt x="100393" y="142944"/>
                  <a:pt x="104044" y="140736"/>
                </a:cubicBezTo>
                <a:cubicBezTo>
                  <a:pt x="107694" y="138527"/>
                  <a:pt x="112269" y="138527"/>
                  <a:pt x="115920" y="140736"/>
                </a:cubicBezTo>
                <a:cubicBezTo>
                  <a:pt x="119570" y="142944"/>
                  <a:pt x="121694" y="146996"/>
                  <a:pt x="121433" y="151254"/>
                </a:cubicBezTo>
                <a:cubicBezTo>
                  <a:pt x="121694" y="155513"/>
                  <a:pt x="119570" y="159564"/>
                  <a:pt x="115920" y="161773"/>
                </a:cubicBezTo>
                <a:cubicBezTo>
                  <a:pt x="112269" y="163981"/>
                  <a:pt x="107694" y="163981"/>
                  <a:pt x="104044" y="161773"/>
                </a:cubicBezTo>
                <a:cubicBezTo>
                  <a:pt x="100393" y="159564"/>
                  <a:pt x="98269" y="155513"/>
                  <a:pt x="98530" y="151254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Text 5"/>
          <p:cNvSpPr/>
          <p:nvPr/>
        </p:nvSpPr>
        <p:spPr>
          <a:xfrm>
            <a:off x="1246701" y="1650045"/>
            <a:ext cx="1970887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5017" y="2236728"/>
            <a:ext cx="5160974" cy="990027"/>
          </a:xfrm>
          <a:custGeom>
            <a:avLst/>
            <a:gdLst/>
            <a:ahLst/>
            <a:cxnLst/>
            <a:rect l="l" t="t" r="r" b="b"/>
            <a:pathLst>
              <a:path w="5160974" h="990027">
                <a:moveTo>
                  <a:pt x="0" y="0"/>
                </a:moveTo>
                <a:lnTo>
                  <a:pt x="5087643" y="0"/>
                </a:lnTo>
                <a:cubicBezTo>
                  <a:pt x="5128143" y="0"/>
                  <a:pt x="5160974" y="32832"/>
                  <a:pt x="5160974" y="73331"/>
                </a:cubicBezTo>
                <a:lnTo>
                  <a:pt x="5160974" y="916696"/>
                </a:lnTo>
                <a:cubicBezTo>
                  <a:pt x="5160974" y="957196"/>
                  <a:pt x="5128143" y="990027"/>
                  <a:pt x="5087643" y="990027"/>
                </a:cubicBez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5017" y="2236728"/>
            <a:ext cx="36668" cy="990027"/>
          </a:xfrm>
          <a:custGeom>
            <a:avLst/>
            <a:gdLst/>
            <a:ahLst/>
            <a:cxnLst/>
            <a:rect l="l" t="t" r="r" b="b"/>
            <a:pathLst>
              <a:path w="36668" h="990027">
                <a:moveTo>
                  <a:pt x="0" y="0"/>
                </a:moveTo>
                <a:lnTo>
                  <a:pt x="36668" y="0"/>
                </a:lnTo>
                <a:lnTo>
                  <a:pt x="36668" y="990027"/>
                </a:ln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Shape 8"/>
          <p:cNvSpPr/>
          <p:nvPr/>
        </p:nvSpPr>
        <p:spPr>
          <a:xfrm>
            <a:off x="797522" y="2383398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8337" y="58955"/>
                </a:moveTo>
                <a:cubicBezTo>
                  <a:pt x="124097" y="61762"/>
                  <a:pt x="119227" y="64025"/>
                  <a:pt x="114157" y="65830"/>
                </a:cubicBezTo>
                <a:cubicBezTo>
                  <a:pt x="100693" y="70643"/>
                  <a:pt x="83018" y="73335"/>
                  <a:pt x="64168" y="73335"/>
                </a:cubicBezTo>
                <a:cubicBezTo>
                  <a:pt x="45319" y="73335"/>
                  <a:pt x="27615" y="70614"/>
                  <a:pt x="14180" y="65830"/>
                </a:cubicBezTo>
                <a:cubicBezTo>
                  <a:pt x="9138" y="64025"/>
                  <a:pt x="4240" y="61762"/>
                  <a:pt x="0" y="58955"/>
                </a:cubicBezTo>
                <a:lnTo>
                  <a:pt x="0" y="82502"/>
                </a:lnTo>
                <a:cubicBezTo>
                  <a:pt x="0" y="95164"/>
                  <a:pt x="28733" y="105420"/>
                  <a:pt x="64168" y="105420"/>
                </a:cubicBezTo>
                <a:cubicBezTo>
                  <a:pt x="99604" y="105420"/>
                  <a:pt x="128337" y="95164"/>
                  <a:pt x="128337" y="82502"/>
                </a:cubicBezTo>
                <a:lnTo>
                  <a:pt x="128337" y="58955"/>
                </a:lnTo>
                <a:close/>
                <a:moveTo>
                  <a:pt x="128337" y="36668"/>
                </a:moveTo>
                <a:lnTo>
                  <a:pt x="128337" y="22917"/>
                </a:lnTo>
                <a:cubicBezTo>
                  <a:pt x="128337" y="10255"/>
                  <a:pt x="99604" y="0"/>
                  <a:pt x="64168" y="0"/>
                </a:cubicBezTo>
                <a:cubicBezTo>
                  <a:pt x="28733" y="0"/>
                  <a:pt x="0" y="10255"/>
                  <a:pt x="0" y="22917"/>
                </a:cubicBezTo>
                <a:lnTo>
                  <a:pt x="0" y="36668"/>
                </a:lnTo>
                <a:cubicBezTo>
                  <a:pt x="0" y="49329"/>
                  <a:pt x="28733" y="59585"/>
                  <a:pt x="64168" y="59585"/>
                </a:cubicBezTo>
                <a:cubicBezTo>
                  <a:pt x="99604" y="59585"/>
                  <a:pt x="128337" y="49329"/>
                  <a:pt x="128337" y="36668"/>
                </a:cubicBezTo>
                <a:close/>
                <a:moveTo>
                  <a:pt x="114157" y="111665"/>
                </a:moveTo>
                <a:cubicBezTo>
                  <a:pt x="100722" y="116448"/>
                  <a:pt x="83047" y="119170"/>
                  <a:pt x="64168" y="119170"/>
                </a:cubicBezTo>
                <a:cubicBezTo>
                  <a:pt x="45290" y="119170"/>
                  <a:pt x="27615" y="116448"/>
                  <a:pt x="14180" y="111665"/>
                </a:cubicBezTo>
                <a:cubicBezTo>
                  <a:pt x="9138" y="109860"/>
                  <a:pt x="4240" y="107597"/>
                  <a:pt x="0" y="104789"/>
                </a:cubicBezTo>
                <a:lnTo>
                  <a:pt x="0" y="123753"/>
                </a:lnTo>
                <a:cubicBezTo>
                  <a:pt x="0" y="136415"/>
                  <a:pt x="28733" y="146671"/>
                  <a:pt x="64168" y="146671"/>
                </a:cubicBezTo>
                <a:cubicBezTo>
                  <a:pt x="99604" y="146671"/>
                  <a:pt x="128337" y="136415"/>
                  <a:pt x="128337" y="123753"/>
                </a:cubicBezTo>
                <a:lnTo>
                  <a:pt x="128337" y="104789"/>
                </a:lnTo>
                <a:cubicBezTo>
                  <a:pt x="124097" y="107597"/>
                  <a:pt x="119227" y="109860"/>
                  <a:pt x="114157" y="11166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1" name="Text 9"/>
          <p:cNvSpPr/>
          <p:nvPr/>
        </p:nvSpPr>
        <p:spPr>
          <a:xfrm>
            <a:off x="953359" y="2346731"/>
            <a:ext cx="488596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Constraints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0021" y="2640072"/>
            <a:ext cx="5069305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data only (1896-2016). No real-time factors like training conditions, injuries, or current form.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5017" y="3373426"/>
            <a:ext cx="5160974" cy="990027"/>
          </a:xfrm>
          <a:custGeom>
            <a:avLst/>
            <a:gdLst/>
            <a:ahLst/>
            <a:cxnLst/>
            <a:rect l="l" t="t" r="r" b="b"/>
            <a:pathLst>
              <a:path w="5160974" h="990027">
                <a:moveTo>
                  <a:pt x="0" y="0"/>
                </a:moveTo>
                <a:lnTo>
                  <a:pt x="5087643" y="0"/>
                </a:lnTo>
                <a:cubicBezTo>
                  <a:pt x="5128143" y="0"/>
                  <a:pt x="5160974" y="32832"/>
                  <a:pt x="5160974" y="73331"/>
                </a:cubicBezTo>
                <a:lnTo>
                  <a:pt x="5160974" y="916696"/>
                </a:lnTo>
                <a:cubicBezTo>
                  <a:pt x="5160974" y="957196"/>
                  <a:pt x="5128143" y="990027"/>
                  <a:pt x="5087643" y="990027"/>
                </a:cubicBez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5017" y="3373426"/>
            <a:ext cx="36668" cy="990027"/>
          </a:xfrm>
          <a:custGeom>
            <a:avLst/>
            <a:gdLst/>
            <a:ahLst/>
            <a:cxnLst/>
            <a:rect l="l" t="t" r="r" b="b"/>
            <a:pathLst>
              <a:path w="36668" h="990027">
                <a:moveTo>
                  <a:pt x="0" y="0"/>
                </a:moveTo>
                <a:lnTo>
                  <a:pt x="36668" y="0"/>
                </a:lnTo>
                <a:lnTo>
                  <a:pt x="36668" y="990027"/>
                </a:ln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0021" y="3520096"/>
            <a:ext cx="183338" cy="146671"/>
          </a:xfrm>
          <a:custGeom>
            <a:avLst/>
            <a:gdLst/>
            <a:ahLst/>
            <a:cxnLst/>
            <a:rect l="l" t="t" r="r" b="b"/>
            <a:pathLst>
              <a:path w="183338" h="146671">
                <a:moveTo>
                  <a:pt x="110003" y="9167"/>
                </a:moveTo>
                <a:lnTo>
                  <a:pt x="146671" y="9167"/>
                </a:lnTo>
                <a:cubicBezTo>
                  <a:pt x="151741" y="9167"/>
                  <a:pt x="155838" y="13263"/>
                  <a:pt x="155838" y="18334"/>
                </a:cubicBezTo>
                <a:cubicBezTo>
                  <a:pt x="155838" y="23404"/>
                  <a:pt x="151741" y="27501"/>
                  <a:pt x="146671" y="27501"/>
                </a:cubicBezTo>
                <a:lnTo>
                  <a:pt x="114128" y="27501"/>
                </a:lnTo>
                <a:cubicBezTo>
                  <a:pt x="112638" y="34892"/>
                  <a:pt x="107568" y="40993"/>
                  <a:pt x="100836" y="43915"/>
                </a:cubicBezTo>
                <a:lnTo>
                  <a:pt x="100836" y="128337"/>
                </a:lnTo>
                <a:lnTo>
                  <a:pt x="146671" y="128337"/>
                </a:lnTo>
                <a:cubicBezTo>
                  <a:pt x="151741" y="128337"/>
                  <a:pt x="155838" y="132433"/>
                  <a:pt x="155838" y="137504"/>
                </a:cubicBezTo>
                <a:cubicBezTo>
                  <a:pt x="155838" y="142574"/>
                  <a:pt x="151741" y="146671"/>
                  <a:pt x="146671" y="146671"/>
                </a:cubicBezTo>
                <a:lnTo>
                  <a:pt x="36668" y="146671"/>
                </a:lnTo>
                <a:cubicBezTo>
                  <a:pt x="31597" y="146671"/>
                  <a:pt x="27501" y="142574"/>
                  <a:pt x="27501" y="137504"/>
                </a:cubicBezTo>
                <a:cubicBezTo>
                  <a:pt x="27501" y="132433"/>
                  <a:pt x="31597" y="128337"/>
                  <a:pt x="36668" y="128337"/>
                </a:cubicBezTo>
                <a:lnTo>
                  <a:pt x="82502" y="128337"/>
                </a:lnTo>
                <a:lnTo>
                  <a:pt x="82502" y="43915"/>
                </a:lnTo>
                <a:cubicBezTo>
                  <a:pt x="75770" y="40965"/>
                  <a:pt x="70700" y="34863"/>
                  <a:pt x="69210" y="27501"/>
                </a:cubicBezTo>
                <a:lnTo>
                  <a:pt x="36668" y="27501"/>
                </a:lnTo>
                <a:cubicBezTo>
                  <a:pt x="31597" y="27501"/>
                  <a:pt x="27501" y="23404"/>
                  <a:pt x="27501" y="18334"/>
                </a:cubicBezTo>
                <a:cubicBezTo>
                  <a:pt x="27501" y="13263"/>
                  <a:pt x="31597" y="9167"/>
                  <a:pt x="36668" y="9167"/>
                </a:cubicBezTo>
                <a:lnTo>
                  <a:pt x="73335" y="9167"/>
                </a:lnTo>
                <a:cubicBezTo>
                  <a:pt x="77518" y="3609"/>
                  <a:pt x="84164" y="0"/>
                  <a:pt x="91669" y="0"/>
                </a:cubicBezTo>
                <a:cubicBezTo>
                  <a:pt x="99175" y="0"/>
                  <a:pt x="105821" y="3609"/>
                  <a:pt x="110003" y="9167"/>
                </a:cubicBezTo>
                <a:close/>
                <a:moveTo>
                  <a:pt x="125931" y="91669"/>
                </a:moveTo>
                <a:lnTo>
                  <a:pt x="167411" y="91669"/>
                </a:lnTo>
                <a:lnTo>
                  <a:pt x="146671" y="56090"/>
                </a:lnTo>
                <a:lnTo>
                  <a:pt x="125931" y="91669"/>
                </a:lnTo>
                <a:close/>
                <a:moveTo>
                  <a:pt x="146671" y="119170"/>
                </a:moveTo>
                <a:cubicBezTo>
                  <a:pt x="128652" y="119170"/>
                  <a:pt x="113670" y="109430"/>
                  <a:pt x="110576" y="96568"/>
                </a:cubicBezTo>
                <a:cubicBezTo>
                  <a:pt x="109831" y="93417"/>
                  <a:pt x="110862" y="90180"/>
                  <a:pt x="112495" y="87372"/>
                </a:cubicBezTo>
                <a:lnTo>
                  <a:pt x="139767" y="40621"/>
                </a:lnTo>
                <a:cubicBezTo>
                  <a:pt x="141199" y="38157"/>
                  <a:pt x="143835" y="36668"/>
                  <a:pt x="146671" y="36668"/>
                </a:cubicBezTo>
                <a:cubicBezTo>
                  <a:pt x="149507" y="36668"/>
                  <a:pt x="152142" y="38186"/>
                  <a:pt x="153575" y="40621"/>
                </a:cubicBezTo>
                <a:lnTo>
                  <a:pt x="180846" y="87372"/>
                </a:lnTo>
                <a:cubicBezTo>
                  <a:pt x="182479" y="90180"/>
                  <a:pt x="183510" y="93417"/>
                  <a:pt x="182765" y="96568"/>
                </a:cubicBezTo>
                <a:cubicBezTo>
                  <a:pt x="179672" y="109401"/>
                  <a:pt x="164689" y="119170"/>
                  <a:pt x="146671" y="119170"/>
                </a:cubicBezTo>
                <a:close/>
                <a:moveTo>
                  <a:pt x="36324" y="56090"/>
                </a:moveTo>
                <a:lnTo>
                  <a:pt x="15584" y="91669"/>
                </a:lnTo>
                <a:lnTo>
                  <a:pt x="57093" y="91669"/>
                </a:lnTo>
                <a:lnTo>
                  <a:pt x="36324" y="56090"/>
                </a:lnTo>
                <a:close/>
                <a:moveTo>
                  <a:pt x="258" y="96568"/>
                </a:moveTo>
                <a:cubicBezTo>
                  <a:pt x="-487" y="93417"/>
                  <a:pt x="544" y="90180"/>
                  <a:pt x="2177" y="87372"/>
                </a:cubicBezTo>
                <a:lnTo>
                  <a:pt x="29449" y="40621"/>
                </a:lnTo>
                <a:cubicBezTo>
                  <a:pt x="30881" y="38157"/>
                  <a:pt x="33517" y="36668"/>
                  <a:pt x="36353" y="36668"/>
                </a:cubicBezTo>
                <a:cubicBezTo>
                  <a:pt x="39189" y="36668"/>
                  <a:pt x="41824" y="38186"/>
                  <a:pt x="43256" y="40621"/>
                </a:cubicBezTo>
                <a:lnTo>
                  <a:pt x="70528" y="87372"/>
                </a:lnTo>
                <a:cubicBezTo>
                  <a:pt x="72161" y="90180"/>
                  <a:pt x="73192" y="93417"/>
                  <a:pt x="72447" y="96568"/>
                </a:cubicBezTo>
                <a:cubicBezTo>
                  <a:pt x="69353" y="109401"/>
                  <a:pt x="54371" y="119170"/>
                  <a:pt x="36353" y="119170"/>
                </a:cubicBezTo>
                <a:cubicBezTo>
                  <a:pt x="18334" y="119170"/>
                  <a:pt x="3352" y="109430"/>
                  <a:pt x="258" y="96568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6" name="Text 14"/>
          <p:cNvSpPr/>
          <p:nvPr/>
        </p:nvSpPr>
        <p:spPr>
          <a:xfrm>
            <a:off x="953359" y="3483429"/>
            <a:ext cx="488596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0021" y="3776770"/>
            <a:ext cx="5069305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SMOTE, predicting rare medal events remains challenging. Model biased toward majority class.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5017" y="4510123"/>
            <a:ext cx="5160974" cy="990027"/>
          </a:xfrm>
          <a:custGeom>
            <a:avLst/>
            <a:gdLst/>
            <a:ahLst/>
            <a:cxnLst/>
            <a:rect l="l" t="t" r="r" b="b"/>
            <a:pathLst>
              <a:path w="5160974" h="990027">
                <a:moveTo>
                  <a:pt x="0" y="0"/>
                </a:moveTo>
                <a:lnTo>
                  <a:pt x="5087643" y="0"/>
                </a:lnTo>
                <a:cubicBezTo>
                  <a:pt x="5128143" y="0"/>
                  <a:pt x="5160974" y="32832"/>
                  <a:pt x="5160974" y="73331"/>
                </a:cubicBezTo>
                <a:lnTo>
                  <a:pt x="5160974" y="916696"/>
                </a:lnTo>
                <a:cubicBezTo>
                  <a:pt x="5160974" y="957196"/>
                  <a:pt x="5128143" y="990027"/>
                  <a:pt x="5087643" y="990027"/>
                </a:cubicBez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5017" y="4510123"/>
            <a:ext cx="36668" cy="990027"/>
          </a:xfrm>
          <a:custGeom>
            <a:avLst/>
            <a:gdLst/>
            <a:ahLst/>
            <a:cxnLst/>
            <a:rect l="l" t="t" r="r" b="b"/>
            <a:pathLst>
              <a:path w="36668" h="990027">
                <a:moveTo>
                  <a:pt x="0" y="0"/>
                </a:moveTo>
                <a:lnTo>
                  <a:pt x="36668" y="0"/>
                </a:lnTo>
                <a:lnTo>
                  <a:pt x="36668" y="990027"/>
                </a:ln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0" name="Shape 18"/>
          <p:cNvSpPr/>
          <p:nvPr/>
        </p:nvSpPr>
        <p:spPr>
          <a:xfrm>
            <a:off x="788355" y="4656794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00807" y="80211"/>
                </a:moveTo>
                <a:lnTo>
                  <a:pt x="46121" y="80211"/>
                </a:lnTo>
                <a:cubicBezTo>
                  <a:pt x="46952" y="98688"/>
                  <a:pt x="51048" y="115704"/>
                  <a:pt x="56864" y="128165"/>
                </a:cubicBezTo>
                <a:cubicBezTo>
                  <a:pt x="60129" y="135183"/>
                  <a:pt x="63653" y="140139"/>
                  <a:pt x="66918" y="143176"/>
                </a:cubicBezTo>
                <a:cubicBezTo>
                  <a:pt x="70127" y="146184"/>
                  <a:pt x="72333" y="146671"/>
                  <a:pt x="73479" y="146671"/>
                </a:cubicBezTo>
                <a:cubicBezTo>
                  <a:pt x="74624" y="146671"/>
                  <a:pt x="76830" y="146184"/>
                  <a:pt x="80039" y="143176"/>
                </a:cubicBezTo>
                <a:cubicBezTo>
                  <a:pt x="83304" y="140139"/>
                  <a:pt x="86828" y="135155"/>
                  <a:pt x="90094" y="128165"/>
                </a:cubicBezTo>
                <a:cubicBezTo>
                  <a:pt x="95909" y="115704"/>
                  <a:pt x="100005" y="98688"/>
                  <a:pt x="100836" y="80211"/>
                </a:cubicBezTo>
                <a:close/>
                <a:moveTo>
                  <a:pt x="46092" y="66460"/>
                </a:moveTo>
                <a:lnTo>
                  <a:pt x="100779" y="66460"/>
                </a:lnTo>
                <a:cubicBezTo>
                  <a:pt x="99977" y="47983"/>
                  <a:pt x="95880" y="30967"/>
                  <a:pt x="90065" y="18506"/>
                </a:cubicBezTo>
                <a:cubicBezTo>
                  <a:pt x="86799" y="11516"/>
                  <a:pt x="83276" y="6531"/>
                  <a:pt x="80010" y="3495"/>
                </a:cubicBezTo>
                <a:cubicBezTo>
                  <a:pt x="76802" y="487"/>
                  <a:pt x="74596" y="0"/>
                  <a:pt x="73450" y="0"/>
                </a:cubicBezTo>
                <a:cubicBezTo>
                  <a:pt x="72304" y="0"/>
                  <a:pt x="70098" y="487"/>
                  <a:pt x="66890" y="3495"/>
                </a:cubicBezTo>
                <a:cubicBezTo>
                  <a:pt x="63624" y="6531"/>
                  <a:pt x="60101" y="11516"/>
                  <a:pt x="56835" y="18506"/>
                </a:cubicBezTo>
                <a:cubicBezTo>
                  <a:pt x="51020" y="30967"/>
                  <a:pt x="46923" y="47983"/>
                  <a:pt x="46092" y="66460"/>
                </a:cubicBezTo>
                <a:close/>
                <a:moveTo>
                  <a:pt x="32342" y="66460"/>
                </a:moveTo>
                <a:cubicBezTo>
                  <a:pt x="33345" y="41939"/>
                  <a:pt x="39676" y="19165"/>
                  <a:pt x="48928" y="4211"/>
                </a:cubicBezTo>
                <a:cubicBezTo>
                  <a:pt x="22545" y="13550"/>
                  <a:pt x="3122" y="37584"/>
                  <a:pt x="430" y="66460"/>
                </a:cubicBezTo>
                <a:lnTo>
                  <a:pt x="32342" y="66460"/>
                </a:lnTo>
                <a:close/>
                <a:moveTo>
                  <a:pt x="430" y="80211"/>
                </a:moveTo>
                <a:cubicBezTo>
                  <a:pt x="3122" y="109086"/>
                  <a:pt x="22545" y="133121"/>
                  <a:pt x="48928" y="142460"/>
                </a:cubicBezTo>
                <a:cubicBezTo>
                  <a:pt x="39676" y="127506"/>
                  <a:pt x="33345" y="104732"/>
                  <a:pt x="32342" y="80211"/>
                </a:cubicBezTo>
                <a:lnTo>
                  <a:pt x="430" y="80211"/>
                </a:lnTo>
                <a:close/>
                <a:moveTo>
                  <a:pt x="114558" y="80211"/>
                </a:moveTo>
                <a:cubicBezTo>
                  <a:pt x="113555" y="104732"/>
                  <a:pt x="107224" y="127506"/>
                  <a:pt x="97971" y="142460"/>
                </a:cubicBezTo>
                <a:cubicBezTo>
                  <a:pt x="124355" y="133092"/>
                  <a:pt x="143777" y="109086"/>
                  <a:pt x="146470" y="80211"/>
                </a:cubicBezTo>
                <a:lnTo>
                  <a:pt x="114558" y="80211"/>
                </a:lnTo>
                <a:close/>
                <a:moveTo>
                  <a:pt x="146470" y="66460"/>
                </a:moveTo>
                <a:cubicBezTo>
                  <a:pt x="143777" y="37584"/>
                  <a:pt x="124355" y="13550"/>
                  <a:pt x="97971" y="4211"/>
                </a:cubicBezTo>
                <a:cubicBezTo>
                  <a:pt x="107224" y="19165"/>
                  <a:pt x="113555" y="41939"/>
                  <a:pt x="114558" y="66460"/>
                </a:cubicBezTo>
                <a:lnTo>
                  <a:pt x="146470" y="6646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1" name="Text 19"/>
          <p:cNvSpPr/>
          <p:nvPr/>
        </p:nvSpPr>
        <p:spPr>
          <a:xfrm>
            <a:off x="953359" y="4620126"/>
            <a:ext cx="488596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 Nations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0021" y="4913468"/>
            <a:ext cx="5069305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historical data for emerging Olympic nations reduces prediction accuracy for new competitors.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5017" y="5646821"/>
            <a:ext cx="5160974" cy="990027"/>
          </a:xfrm>
          <a:custGeom>
            <a:avLst/>
            <a:gdLst/>
            <a:ahLst/>
            <a:cxnLst/>
            <a:rect l="l" t="t" r="r" b="b"/>
            <a:pathLst>
              <a:path w="5160974" h="990027">
                <a:moveTo>
                  <a:pt x="0" y="0"/>
                </a:moveTo>
                <a:lnTo>
                  <a:pt x="5087643" y="0"/>
                </a:lnTo>
                <a:cubicBezTo>
                  <a:pt x="5128143" y="0"/>
                  <a:pt x="5160974" y="32832"/>
                  <a:pt x="5160974" y="73331"/>
                </a:cubicBezTo>
                <a:lnTo>
                  <a:pt x="5160974" y="916696"/>
                </a:lnTo>
                <a:cubicBezTo>
                  <a:pt x="5160974" y="957196"/>
                  <a:pt x="5128143" y="990027"/>
                  <a:pt x="5087643" y="990027"/>
                </a:cubicBez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EF2F2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05017" y="5646821"/>
            <a:ext cx="36668" cy="990027"/>
          </a:xfrm>
          <a:custGeom>
            <a:avLst/>
            <a:gdLst/>
            <a:ahLst/>
            <a:cxnLst/>
            <a:rect l="l" t="t" r="r" b="b"/>
            <a:pathLst>
              <a:path w="36668" h="990027">
                <a:moveTo>
                  <a:pt x="0" y="0"/>
                </a:moveTo>
                <a:lnTo>
                  <a:pt x="36668" y="0"/>
                </a:lnTo>
                <a:lnTo>
                  <a:pt x="36668" y="990027"/>
                </a:lnTo>
                <a:lnTo>
                  <a:pt x="0" y="990027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355" y="5793492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64168" y="0"/>
                </a:moveTo>
                <a:cubicBezTo>
                  <a:pt x="74281" y="0"/>
                  <a:pt x="82502" y="6159"/>
                  <a:pt x="82502" y="13750"/>
                </a:cubicBezTo>
                <a:cubicBezTo>
                  <a:pt x="82502" y="16730"/>
                  <a:pt x="81242" y="19480"/>
                  <a:pt x="79065" y="21743"/>
                </a:cubicBezTo>
                <a:cubicBezTo>
                  <a:pt x="77174" y="23719"/>
                  <a:pt x="75627" y="26126"/>
                  <a:pt x="75627" y="28876"/>
                </a:cubicBezTo>
                <a:cubicBezTo>
                  <a:pt x="75627" y="33173"/>
                  <a:pt x="79122" y="36668"/>
                  <a:pt x="83419" y="36668"/>
                </a:cubicBezTo>
                <a:lnTo>
                  <a:pt x="96253" y="36668"/>
                </a:lnTo>
                <a:cubicBezTo>
                  <a:pt x="103844" y="36668"/>
                  <a:pt x="110003" y="42827"/>
                  <a:pt x="110003" y="50418"/>
                </a:cubicBezTo>
                <a:lnTo>
                  <a:pt x="110003" y="63252"/>
                </a:lnTo>
                <a:cubicBezTo>
                  <a:pt x="110003" y="67549"/>
                  <a:pt x="113498" y="71044"/>
                  <a:pt x="117795" y="71044"/>
                </a:cubicBezTo>
                <a:cubicBezTo>
                  <a:pt x="120516" y="71044"/>
                  <a:pt x="122951" y="69497"/>
                  <a:pt x="124928" y="67606"/>
                </a:cubicBezTo>
                <a:cubicBezTo>
                  <a:pt x="127191" y="65458"/>
                  <a:pt x="129941" y="64168"/>
                  <a:pt x="132920" y="64168"/>
                </a:cubicBezTo>
                <a:cubicBezTo>
                  <a:pt x="140512" y="64168"/>
                  <a:pt x="146671" y="72390"/>
                  <a:pt x="146671" y="82502"/>
                </a:cubicBezTo>
                <a:cubicBezTo>
                  <a:pt x="146671" y="92615"/>
                  <a:pt x="140512" y="100836"/>
                  <a:pt x="132920" y="100836"/>
                </a:cubicBezTo>
                <a:cubicBezTo>
                  <a:pt x="129941" y="100836"/>
                  <a:pt x="127162" y="99576"/>
                  <a:pt x="124928" y="97398"/>
                </a:cubicBezTo>
                <a:cubicBezTo>
                  <a:pt x="122951" y="95508"/>
                  <a:pt x="120545" y="93961"/>
                  <a:pt x="117795" y="93961"/>
                </a:cubicBezTo>
                <a:cubicBezTo>
                  <a:pt x="113498" y="93961"/>
                  <a:pt x="110003" y="97456"/>
                  <a:pt x="110003" y="101753"/>
                </a:cubicBezTo>
                <a:lnTo>
                  <a:pt x="110003" y="132920"/>
                </a:lnTo>
                <a:cubicBezTo>
                  <a:pt x="110003" y="140512"/>
                  <a:pt x="103844" y="146671"/>
                  <a:pt x="96253" y="146671"/>
                </a:cubicBezTo>
                <a:lnTo>
                  <a:pt x="79981" y="146671"/>
                </a:lnTo>
                <a:cubicBezTo>
                  <a:pt x="76315" y="146671"/>
                  <a:pt x="73335" y="143691"/>
                  <a:pt x="73335" y="140025"/>
                </a:cubicBezTo>
                <a:cubicBezTo>
                  <a:pt x="73335" y="137389"/>
                  <a:pt x="74997" y="135069"/>
                  <a:pt x="77117" y="133493"/>
                </a:cubicBezTo>
                <a:cubicBezTo>
                  <a:pt x="80440" y="131001"/>
                  <a:pt x="82502" y="127563"/>
                  <a:pt x="82502" y="123753"/>
                </a:cubicBezTo>
                <a:cubicBezTo>
                  <a:pt x="82502" y="116162"/>
                  <a:pt x="74281" y="110003"/>
                  <a:pt x="64168" y="110003"/>
                </a:cubicBezTo>
                <a:cubicBezTo>
                  <a:pt x="54056" y="110003"/>
                  <a:pt x="45835" y="116162"/>
                  <a:pt x="45835" y="123753"/>
                </a:cubicBezTo>
                <a:cubicBezTo>
                  <a:pt x="45835" y="127563"/>
                  <a:pt x="47897" y="131001"/>
                  <a:pt x="51220" y="133493"/>
                </a:cubicBezTo>
                <a:cubicBezTo>
                  <a:pt x="53340" y="135069"/>
                  <a:pt x="55002" y="137361"/>
                  <a:pt x="55002" y="140025"/>
                </a:cubicBezTo>
                <a:cubicBezTo>
                  <a:pt x="55002" y="143691"/>
                  <a:pt x="52022" y="146671"/>
                  <a:pt x="48355" y="146671"/>
                </a:cubicBezTo>
                <a:lnTo>
                  <a:pt x="13750" y="146671"/>
                </a:lnTo>
                <a:cubicBezTo>
                  <a:pt x="6159" y="146671"/>
                  <a:pt x="0" y="140512"/>
                  <a:pt x="0" y="132920"/>
                </a:cubicBezTo>
                <a:lnTo>
                  <a:pt x="0" y="98315"/>
                </a:lnTo>
                <a:cubicBezTo>
                  <a:pt x="0" y="94648"/>
                  <a:pt x="2979" y="91669"/>
                  <a:pt x="6646" y="91669"/>
                </a:cubicBezTo>
                <a:cubicBezTo>
                  <a:pt x="9282" y="91669"/>
                  <a:pt x="11602" y="93331"/>
                  <a:pt x="13177" y="95451"/>
                </a:cubicBezTo>
                <a:cubicBezTo>
                  <a:pt x="15670" y="98774"/>
                  <a:pt x="19107" y="100836"/>
                  <a:pt x="22917" y="100836"/>
                </a:cubicBezTo>
                <a:cubicBezTo>
                  <a:pt x="30509" y="100836"/>
                  <a:pt x="36668" y="92615"/>
                  <a:pt x="36668" y="82502"/>
                </a:cubicBezTo>
                <a:cubicBezTo>
                  <a:pt x="36668" y="72390"/>
                  <a:pt x="30509" y="64168"/>
                  <a:pt x="22917" y="64168"/>
                </a:cubicBezTo>
                <a:cubicBezTo>
                  <a:pt x="19107" y="64168"/>
                  <a:pt x="15670" y="66231"/>
                  <a:pt x="13177" y="69554"/>
                </a:cubicBezTo>
                <a:cubicBezTo>
                  <a:pt x="11602" y="71674"/>
                  <a:pt x="9310" y="73335"/>
                  <a:pt x="6646" y="73335"/>
                </a:cubicBezTo>
                <a:cubicBezTo>
                  <a:pt x="2979" y="73335"/>
                  <a:pt x="0" y="70356"/>
                  <a:pt x="0" y="66689"/>
                </a:cubicBezTo>
                <a:lnTo>
                  <a:pt x="0" y="50418"/>
                </a:lnTo>
                <a:cubicBezTo>
                  <a:pt x="0" y="42827"/>
                  <a:pt x="6159" y="36668"/>
                  <a:pt x="13750" y="36668"/>
                </a:cubicBezTo>
                <a:lnTo>
                  <a:pt x="44918" y="36668"/>
                </a:lnTo>
                <a:cubicBezTo>
                  <a:pt x="49215" y="36668"/>
                  <a:pt x="52710" y="33173"/>
                  <a:pt x="52710" y="28876"/>
                </a:cubicBezTo>
                <a:cubicBezTo>
                  <a:pt x="52710" y="26154"/>
                  <a:pt x="51163" y="23719"/>
                  <a:pt x="49272" y="21743"/>
                </a:cubicBezTo>
                <a:cubicBezTo>
                  <a:pt x="47124" y="19480"/>
                  <a:pt x="45835" y="16730"/>
                  <a:pt x="45835" y="13750"/>
                </a:cubicBezTo>
                <a:cubicBezTo>
                  <a:pt x="45835" y="6159"/>
                  <a:pt x="54056" y="0"/>
                  <a:pt x="64168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953359" y="5756824"/>
            <a:ext cx="488596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Context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021" y="6050165"/>
            <a:ext cx="5069305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data on: training regimes, coaching quality, funding levels, political events, or doping history.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4929" y="1320036"/>
            <a:ext cx="5619320" cy="5536818"/>
          </a:xfrm>
          <a:custGeom>
            <a:avLst/>
            <a:gdLst/>
            <a:ahLst/>
            <a:cxnLst/>
            <a:rect l="l" t="t" r="r" b="b"/>
            <a:pathLst>
              <a:path w="5619320" h="5536818">
                <a:moveTo>
                  <a:pt x="146670" y="0"/>
                </a:moveTo>
                <a:lnTo>
                  <a:pt x="5472650" y="0"/>
                </a:lnTo>
                <a:cubicBezTo>
                  <a:pt x="5553654" y="0"/>
                  <a:pt x="5619320" y="65667"/>
                  <a:pt x="5619320" y="146670"/>
                </a:cubicBezTo>
                <a:lnTo>
                  <a:pt x="5619320" y="5390148"/>
                </a:lnTo>
                <a:cubicBezTo>
                  <a:pt x="5619320" y="5471152"/>
                  <a:pt x="5553654" y="5536818"/>
                  <a:pt x="5472650" y="5536818"/>
                </a:cubicBezTo>
                <a:lnTo>
                  <a:pt x="146670" y="5536818"/>
                </a:lnTo>
                <a:cubicBezTo>
                  <a:pt x="65667" y="5536818"/>
                  <a:pt x="0" y="5471152"/>
                  <a:pt x="0" y="5390148"/>
                </a:cubicBezTo>
                <a:lnTo>
                  <a:pt x="0" y="146670"/>
                </a:lnTo>
                <a:cubicBezTo>
                  <a:pt x="0" y="65667"/>
                  <a:pt x="65667" y="0"/>
                  <a:pt x="1466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501" dist="9167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24935" y="1540042"/>
            <a:ext cx="513347" cy="513347"/>
          </a:xfrm>
          <a:custGeom>
            <a:avLst/>
            <a:gdLst/>
            <a:ahLst/>
            <a:cxnLst/>
            <a:rect l="l" t="t" r="r" b="b"/>
            <a:pathLst>
              <a:path w="513347" h="513347">
                <a:moveTo>
                  <a:pt x="110005" y="0"/>
                </a:moveTo>
                <a:lnTo>
                  <a:pt x="403342" y="0"/>
                </a:lnTo>
                <a:cubicBezTo>
                  <a:pt x="464056" y="0"/>
                  <a:pt x="513347" y="49292"/>
                  <a:pt x="513347" y="110005"/>
                </a:cubicBezTo>
                <a:lnTo>
                  <a:pt x="513347" y="403342"/>
                </a:lnTo>
                <a:cubicBezTo>
                  <a:pt x="513347" y="464096"/>
                  <a:pt x="464096" y="513347"/>
                  <a:pt x="403342" y="513347"/>
                </a:cubicBezTo>
                <a:lnTo>
                  <a:pt x="110005" y="513347"/>
                </a:lnTo>
                <a:cubicBezTo>
                  <a:pt x="49251" y="513347"/>
                  <a:pt x="0" y="464096"/>
                  <a:pt x="0" y="403342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0" name="Shape 28"/>
          <p:cNvSpPr/>
          <p:nvPr/>
        </p:nvSpPr>
        <p:spPr>
          <a:xfrm>
            <a:off x="6571605" y="1686713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55002" y="137504"/>
                </a:moveTo>
                <a:lnTo>
                  <a:pt x="10528" y="137504"/>
                </a:lnTo>
                <a:cubicBezTo>
                  <a:pt x="-172" y="137504"/>
                  <a:pt x="-6746" y="125859"/>
                  <a:pt x="-1246" y="116663"/>
                </a:cubicBezTo>
                <a:lnTo>
                  <a:pt x="21485" y="78764"/>
                </a:lnTo>
                <a:cubicBezTo>
                  <a:pt x="25223" y="72533"/>
                  <a:pt x="31927" y="68752"/>
                  <a:pt x="39189" y="68752"/>
                </a:cubicBezTo>
                <a:lnTo>
                  <a:pt x="80010" y="68752"/>
                </a:lnTo>
                <a:cubicBezTo>
                  <a:pt x="112710" y="13364"/>
                  <a:pt x="161481" y="10571"/>
                  <a:pt x="194095" y="15340"/>
                </a:cubicBezTo>
                <a:cubicBezTo>
                  <a:pt x="199595" y="16157"/>
                  <a:pt x="203892" y="20454"/>
                  <a:pt x="204666" y="25911"/>
                </a:cubicBezTo>
                <a:cubicBezTo>
                  <a:pt x="209435" y="58525"/>
                  <a:pt x="206642" y="107296"/>
                  <a:pt x="151254" y="139996"/>
                </a:cubicBezTo>
                <a:lnTo>
                  <a:pt x="151254" y="180817"/>
                </a:lnTo>
                <a:cubicBezTo>
                  <a:pt x="151254" y="188079"/>
                  <a:pt x="147473" y="194783"/>
                  <a:pt x="141242" y="198521"/>
                </a:cubicBezTo>
                <a:lnTo>
                  <a:pt x="103343" y="221252"/>
                </a:lnTo>
                <a:cubicBezTo>
                  <a:pt x="94190" y="226752"/>
                  <a:pt x="82502" y="220135"/>
                  <a:pt x="82502" y="209478"/>
                </a:cubicBezTo>
                <a:lnTo>
                  <a:pt x="82502" y="165005"/>
                </a:lnTo>
                <a:cubicBezTo>
                  <a:pt x="82502" y="149836"/>
                  <a:pt x="70170" y="137504"/>
                  <a:pt x="55002" y="137504"/>
                </a:cubicBezTo>
                <a:lnTo>
                  <a:pt x="54959" y="137504"/>
                </a:lnTo>
                <a:close/>
                <a:moveTo>
                  <a:pt x="171880" y="68752"/>
                </a:moveTo>
                <a:cubicBezTo>
                  <a:pt x="171880" y="57368"/>
                  <a:pt x="162638" y="48126"/>
                  <a:pt x="151254" y="48126"/>
                </a:cubicBezTo>
                <a:cubicBezTo>
                  <a:pt x="139871" y="48126"/>
                  <a:pt x="130629" y="57368"/>
                  <a:pt x="130629" y="68752"/>
                </a:cubicBezTo>
                <a:cubicBezTo>
                  <a:pt x="130629" y="80135"/>
                  <a:pt x="139871" y="89377"/>
                  <a:pt x="151254" y="89377"/>
                </a:cubicBezTo>
                <a:cubicBezTo>
                  <a:pt x="162638" y="89377"/>
                  <a:pt x="171880" y="80135"/>
                  <a:pt x="171880" y="6875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1" name="Text 29"/>
          <p:cNvSpPr/>
          <p:nvPr/>
        </p:nvSpPr>
        <p:spPr>
          <a:xfrm>
            <a:off x="7084953" y="1650045"/>
            <a:ext cx="2190893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4935" y="2236728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6587862" y="2328397"/>
            <a:ext cx="10083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38282" y="2273395"/>
            <a:ext cx="473929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Integration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8282" y="2530069"/>
            <a:ext cx="4739296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athlete performance metrics, injury reports, and training data from wearable devices.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4935" y="3080084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575544" y="3171753"/>
            <a:ext cx="1283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38282" y="3116752"/>
            <a:ext cx="473929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38282" y="3373426"/>
            <a:ext cx="4739296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multiple models (XGBoost + Neural Networks + Random Forest) for improved accuracy.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24935" y="3923441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6573897" y="4015110"/>
            <a:ext cx="1283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38282" y="3960108"/>
            <a:ext cx="473929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Sport-Specific Models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38282" y="4216782"/>
            <a:ext cx="4739296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separate models for each sport to capture unique success factors and improve precision.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24935" y="4766797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Text 43"/>
          <p:cNvSpPr/>
          <p:nvPr/>
        </p:nvSpPr>
        <p:spPr>
          <a:xfrm>
            <a:off x="6575616" y="4858466"/>
            <a:ext cx="1283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38282" y="4803465"/>
            <a:ext cx="473929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Feature Engineering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38282" y="5060138"/>
            <a:ext cx="4739296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social media sentiment, weather conditions, and home-field advantage effects.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24935" y="5610153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6573682" y="5701823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38282" y="5646821"/>
            <a:ext cx="473929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Approaches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38282" y="5903495"/>
            <a:ext cx="4739296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LSTM networks to capture temporal patterns in athlete career trajectories.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71814" y="6526845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0ff8f2937112cca63680026b2e9502cc4fb17056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21871" b="21871"/>
          <a:stretch/>
        </p:blipFill>
        <p:spPr>
          <a:xfrm>
            <a:off x="0" y="0"/>
            <a:ext cx="12192000" cy="685903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037"/>
          </a:xfrm>
          <a:custGeom>
            <a:avLst/>
            <a:gdLst/>
            <a:ahLst/>
            <a:cxnLst/>
            <a:rect l="l" t="t" r="r" b="b"/>
            <a:pathLst>
              <a:path w="12192000" h="6859037">
                <a:moveTo>
                  <a:pt x="0" y="0"/>
                </a:moveTo>
                <a:lnTo>
                  <a:pt x="12192000" y="0"/>
                </a:lnTo>
                <a:lnTo>
                  <a:pt x="12192000" y="6859037"/>
                </a:lnTo>
                <a:lnTo>
                  <a:pt x="0" y="685903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F5F7">
                  <a:alpha val="98000"/>
                </a:srgbClr>
              </a:gs>
              <a:gs pos="50000">
                <a:srgbClr val="F5F5F7">
                  <a:alpha val="95000"/>
                </a:srgbClr>
              </a:gs>
              <a:gs pos="100000">
                <a:srgbClr val="0071E3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31755" y="331755"/>
            <a:ext cx="1158654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spc="91" kern="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31755" y="630335"/>
            <a:ext cx="11777306" cy="1244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918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Olympic Success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918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Can Be Predicted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31755" y="2073469"/>
            <a:ext cx="1061616" cy="33176"/>
          </a:xfrm>
          <a:custGeom>
            <a:avLst/>
            <a:gdLst/>
            <a:ahLst/>
            <a:cxnLst/>
            <a:rect l="l" t="t" r="r" b="b"/>
            <a:pathLst>
              <a:path w="1061616" h="33176">
                <a:moveTo>
                  <a:pt x="0" y="0"/>
                </a:moveTo>
                <a:lnTo>
                  <a:pt x="1061616" y="0"/>
                </a:lnTo>
                <a:lnTo>
                  <a:pt x="1061616" y="33176"/>
                </a:lnTo>
                <a:lnTo>
                  <a:pt x="0" y="33176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Shape 4"/>
          <p:cNvSpPr/>
          <p:nvPr/>
        </p:nvSpPr>
        <p:spPr>
          <a:xfrm>
            <a:off x="331755" y="2438400"/>
            <a:ext cx="3665894" cy="1857829"/>
          </a:xfrm>
          <a:custGeom>
            <a:avLst/>
            <a:gdLst/>
            <a:ahLst/>
            <a:cxnLst/>
            <a:rect l="l" t="t" r="r" b="b"/>
            <a:pathLst>
              <a:path w="3665894" h="1857829">
                <a:moveTo>
                  <a:pt x="132705" y="0"/>
                </a:moveTo>
                <a:lnTo>
                  <a:pt x="3533189" y="0"/>
                </a:lnTo>
                <a:cubicBezTo>
                  <a:pt x="3606480" y="0"/>
                  <a:pt x="3665894" y="59414"/>
                  <a:pt x="3665894" y="132705"/>
                </a:cubicBezTo>
                <a:lnTo>
                  <a:pt x="3665894" y="1725124"/>
                </a:lnTo>
                <a:cubicBezTo>
                  <a:pt x="3665894" y="1798415"/>
                  <a:pt x="3606480" y="1857829"/>
                  <a:pt x="3533189" y="1857829"/>
                </a:cubicBezTo>
                <a:lnTo>
                  <a:pt x="132705" y="1857829"/>
                </a:lnTo>
                <a:cubicBezTo>
                  <a:pt x="59414" y="1857829"/>
                  <a:pt x="0" y="1798415"/>
                  <a:pt x="0" y="1725124"/>
                </a:cubicBezTo>
                <a:lnTo>
                  <a:pt x="0" y="132705"/>
                </a:lnTo>
                <a:cubicBezTo>
                  <a:pt x="0" y="59414"/>
                  <a:pt x="59414" y="0"/>
                  <a:pt x="13270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24408" dist="82939" dir="540000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0808" y="2637453"/>
            <a:ext cx="530808" cy="530808"/>
          </a:xfrm>
          <a:custGeom>
            <a:avLst/>
            <a:gdLst/>
            <a:ahLst/>
            <a:cxnLst/>
            <a:rect l="l" t="t" r="r" b="b"/>
            <a:pathLst>
              <a:path w="530808" h="530808">
                <a:moveTo>
                  <a:pt x="132702" y="0"/>
                </a:moveTo>
                <a:lnTo>
                  <a:pt x="398106" y="0"/>
                </a:lnTo>
                <a:cubicBezTo>
                  <a:pt x="471346" y="0"/>
                  <a:pt x="530808" y="59462"/>
                  <a:pt x="530808" y="132702"/>
                </a:cubicBezTo>
                <a:lnTo>
                  <a:pt x="530808" y="398106"/>
                </a:lnTo>
                <a:cubicBezTo>
                  <a:pt x="530808" y="471346"/>
                  <a:pt x="471346" y="530808"/>
                  <a:pt x="398106" y="530808"/>
                </a:cubicBezTo>
                <a:lnTo>
                  <a:pt x="132702" y="530808"/>
                </a:lnTo>
                <a:cubicBezTo>
                  <a:pt x="59462" y="530808"/>
                  <a:pt x="0" y="471346"/>
                  <a:pt x="0" y="398106"/>
                </a:cubicBezTo>
                <a:lnTo>
                  <a:pt x="0" y="132702"/>
                </a:lnTo>
                <a:cubicBezTo>
                  <a:pt x="0" y="59413"/>
                  <a:pt x="59413" y="0"/>
                  <a:pt x="1327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6"/>
          <p:cNvSpPr/>
          <p:nvPr/>
        </p:nvSpPr>
        <p:spPr>
          <a:xfrm>
            <a:off x="673878" y="2778449"/>
            <a:ext cx="248816" cy="248816"/>
          </a:xfrm>
          <a:custGeom>
            <a:avLst/>
            <a:gdLst/>
            <a:ahLst/>
            <a:cxnLst/>
            <a:rect l="l" t="t" r="r" b="b"/>
            <a:pathLst>
              <a:path w="248816" h="248816">
                <a:moveTo>
                  <a:pt x="70125" y="0"/>
                </a:moveTo>
                <a:lnTo>
                  <a:pt x="178983" y="0"/>
                </a:lnTo>
                <a:cubicBezTo>
                  <a:pt x="191861" y="0"/>
                  <a:pt x="202358" y="10594"/>
                  <a:pt x="201872" y="23424"/>
                </a:cubicBezTo>
                <a:cubicBezTo>
                  <a:pt x="201774" y="25999"/>
                  <a:pt x="201677" y="28575"/>
                  <a:pt x="201532" y="31102"/>
                </a:cubicBezTo>
                <a:lnTo>
                  <a:pt x="225636" y="31102"/>
                </a:lnTo>
                <a:cubicBezTo>
                  <a:pt x="238319" y="31102"/>
                  <a:pt x="249497" y="41599"/>
                  <a:pt x="248525" y="55303"/>
                </a:cubicBezTo>
                <a:cubicBezTo>
                  <a:pt x="244880" y="105698"/>
                  <a:pt x="219124" y="133399"/>
                  <a:pt x="191180" y="147880"/>
                </a:cubicBezTo>
                <a:cubicBezTo>
                  <a:pt x="183502" y="151865"/>
                  <a:pt x="175678" y="154830"/>
                  <a:pt x="168243" y="157017"/>
                </a:cubicBezTo>
                <a:cubicBezTo>
                  <a:pt x="158426" y="170915"/>
                  <a:pt x="148221" y="178254"/>
                  <a:pt x="140105" y="182190"/>
                </a:cubicBezTo>
                <a:lnTo>
                  <a:pt x="140105" y="217714"/>
                </a:lnTo>
                <a:lnTo>
                  <a:pt x="171207" y="217714"/>
                </a:lnTo>
                <a:cubicBezTo>
                  <a:pt x="179809" y="217714"/>
                  <a:pt x="186758" y="224664"/>
                  <a:pt x="186758" y="233265"/>
                </a:cubicBezTo>
                <a:cubicBezTo>
                  <a:pt x="186758" y="241867"/>
                  <a:pt x="179809" y="248816"/>
                  <a:pt x="171207" y="248816"/>
                </a:cubicBezTo>
                <a:lnTo>
                  <a:pt x="77901" y="248816"/>
                </a:lnTo>
                <a:cubicBezTo>
                  <a:pt x="69299" y="248816"/>
                  <a:pt x="62350" y="241867"/>
                  <a:pt x="62350" y="233265"/>
                </a:cubicBezTo>
                <a:cubicBezTo>
                  <a:pt x="62350" y="224664"/>
                  <a:pt x="69299" y="217714"/>
                  <a:pt x="77901" y="217714"/>
                </a:cubicBezTo>
                <a:lnTo>
                  <a:pt x="109003" y="217714"/>
                </a:lnTo>
                <a:lnTo>
                  <a:pt x="109003" y="182190"/>
                </a:lnTo>
                <a:cubicBezTo>
                  <a:pt x="101227" y="178448"/>
                  <a:pt x="91557" y="171499"/>
                  <a:pt x="82129" y="158718"/>
                </a:cubicBezTo>
                <a:cubicBezTo>
                  <a:pt x="73187" y="156385"/>
                  <a:pt x="63468" y="152837"/>
                  <a:pt x="53991" y="147492"/>
                </a:cubicBezTo>
                <a:cubicBezTo>
                  <a:pt x="27700" y="132767"/>
                  <a:pt x="3985" y="105018"/>
                  <a:pt x="583" y="55206"/>
                </a:cubicBezTo>
                <a:cubicBezTo>
                  <a:pt x="-340" y="41550"/>
                  <a:pt x="10789" y="31053"/>
                  <a:pt x="23472" y="31053"/>
                </a:cubicBezTo>
                <a:lnTo>
                  <a:pt x="47576" y="31053"/>
                </a:lnTo>
                <a:cubicBezTo>
                  <a:pt x="47431" y="28526"/>
                  <a:pt x="47333" y="25999"/>
                  <a:pt x="47236" y="23375"/>
                </a:cubicBezTo>
                <a:cubicBezTo>
                  <a:pt x="46750" y="10497"/>
                  <a:pt x="57247" y="-49"/>
                  <a:pt x="70125" y="-49"/>
                </a:cubicBezTo>
                <a:close/>
                <a:moveTo>
                  <a:pt x="49326" y="54429"/>
                </a:moveTo>
                <a:lnTo>
                  <a:pt x="23861" y="54429"/>
                </a:lnTo>
                <a:cubicBezTo>
                  <a:pt x="26874" y="95590"/>
                  <a:pt x="45778" y="116195"/>
                  <a:pt x="65266" y="127130"/>
                </a:cubicBezTo>
                <a:cubicBezTo>
                  <a:pt x="58268" y="109003"/>
                  <a:pt x="52485" y="85336"/>
                  <a:pt x="49326" y="54429"/>
                </a:cubicBezTo>
                <a:close/>
                <a:moveTo>
                  <a:pt x="184668" y="124797"/>
                </a:moveTo>
                <a:cubicBezTo>
                  <a:pt x="204350" y="113231"/>
                  <a:pt x="222137" y="92674"/>
                  <a:pt x="225150" y="54429"/>
                </a:cubicBezTo>
                <a:lnTo>
                  <a:pt x="199733" y="54429"/>
                </a:lnTo>
                <a:cubicBezTo>
                  <a:pt x="196720" y="84024"/>
                  <a:pt x="191278" y="107010"/>
                  <a:pt x="184668" y="1247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30808" y="3300963"/>
            <a:ext cx="3367314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84.3% Accuracy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0808" y="3665894"/>
            <a:ext cx="3334139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model achieved strong performance in predicting Olympic medal outcomes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63636" y="2438400"/>
            <a:ext cx="3665894" cy="1857829"/>
          </a:xfrm>
          <a:custGeom>
            <a:avLst/>
            <a:gdLst/>
            <a:ahLst/>
            <a:cxnLst/>
            <a:rect l="l" t="t" r="r" b="b"/>
            <a:pathLst>
              <a:path w="3665894" h="1857829">
                <a:moveTo>
                  <a:pt x="132705" y="0"/>
                </a:moveTo>
                <a:lnTo>
                  <a:pt x="3533189" y="0"/>
                </a:lnTo>
                <a:cubicBezTo>
                  <a:pt x="3606480" y="0"/>
                  <a:pt x="3665894" y="59414"/>
                  <a:pt x="3665894" y="132705"/>
                </a:cubicBezTo>
                <a:lnTo>
                  <a:pt x="3665894" y="1725124"/>
                </a:lnTo>
                <a:cubicBezTo>
                  <a:pt x="3665894" y="1798415"/>
                  <a:pt x="3606480" y="1857829"/>
                  <a:pt x="3533189" y="1857829"/>
                </a:cubicBezTo>
                <a:lnTo>
                  <a:pt x="132705" y="1857829"/>
                </a:lnTo>
                <a:cubicBezTo>
                  <a:pt x="59414" y="1857829"/>
                  <a:pt x="0" y="1798415"/>
                  <a:pt x="0" y="1725124"/>
                </a:cubicBezTo>
                <a:lnTo>
                  <a:pt x="0" y="132705"/>
                </a:lnTo>
                <a:cubicBezTo>
                  <a:pt x="0" y="59414"/>
                  <a:pt x="59414" y="0"/>
                  <a:pt x="13270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24408" dist="82939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62689" y="2637453"/>
            <a:ext cx="530808" cy="530808"/>
          </a:xfrm>
          <a:custGeom>
            <a:avLst/>
            <a:gdLst/>
            <a:ahLst/>
            <a:cxnLst/>
            <a:rect l="l" t="t" r="r" b="b"/>
            <a:pathLst>
              <a:path w="530808" h="530808">
                <a:moveTo>
                  <a:pt x="132702" y="0"/>
                </a:moveTo>
                <a:lnTo>
                  <a:pt x="398106" y="0"/>
                </a:lnTo>
                <a:cubicBezTo>
                  <a:pt x="471346" y="0"/>
                  <a:pt x="530808" y="59462"/>
                  <a:pt x="530808" y="132702"/>
                </a:cubicBezTo>
                <a:lnTo>
                  <a:pt x="530808" y="398106"/>
                </a:lnTo>
                <a:cubicBezTo>
                  <a:pt x="530808" y="471346"/>
                  <a:pt x="471346" y="530808"/>
                  <a:pt x="398106" y="530808"/>
                </a:cubicBezTo>
                <a:lnTo>
                  <a:pt x="132702" y="530808"/>
                </a:lnTo>
                <a:cubicBezTo>
                  <a:pt x="59462" y="530808"/>
                  <a:pt x="0" y="471346"/>
                  <a:pt x="0" y="398106"/>
                </a:cubicBezTo>
                <a:lnTo>
                  <a:pt x="0" y="132702"/>
                </a:lnTo>
                <a:cubicBezTo>
                  <a:pt x="0" y="59413"/>
                  <a:pt x="59413" y="0"/>
                  <a:pt x="1327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Shape 11"/>
          <p:cNvSpPr/>
          <p:nvPr/>
        </p:nvSpPr>
        <p:spPr>
          <a:xfrm>
            <a:off x="4621310" y="2778449"/>
            <a:ext cx="217714" cy="248816"/>
          </a:xfrm>
          <a:custGeom>
            <a:avLst/>
            <a:gdLst/>
            <a:ahLst/>
            <a:cxnLst/>
            <a:rect l="l" t="t" r="r" b="b"/>
            <a:pathLst>
              <a:path w="217714" h="248816">
                <a:moveTo>
                  <a:pt x="31102" y="15551"/>
                </a:moveTo>
                <a:cubicBezTo>
                  <a:pt x="31102" y="6949"/>
                  <a:pt x="24153" y="0"/>
                  <a:pt x="15551" y="0"/>
                </a:cubicBezTo>
                <a:cubicBezTo>
                  <a:pt x="6949" y="0"/>
                  <a:pt x="0" y="6949"/>
                  <a:pt x="0" y="15551"/>
                </a:cubicBezTo>
                <a:lnTo>
                  <a:pt x="0" y="233265"/>
                </a:lnTo>
                <a:cubicBezTo>
                  <a:pt x="0" y="241867"/>
                  <a:pt x="6949" y="248816"/>
                  <a:pt x="15551" y="248816"/>
                </a:cubicBezTo>
                <a:cubicBezTo>
                  <a:pt x="24153" y="248816"/>
                  <a:pt x="31102" y="241867"/>
                  <a:pt x="31102" y="233265"/>
                </a:cubicBezTo>
                <a:lnTo>
                  <a:pt x="31102" y="174171"/>
                </a:lnTo>
                <a:lnTo>
                  <a:pt x="61572" y="165035"/>
                </a:lnTo>
                <a:cubicBezTo>
                  <a:pt x="81934" y="158912"/>
                  <a:pt x="103900" y="160807"/>
                  <a:pt x="122902" y="170332"/>
                </a:cubicBezTo>
                <a:cubicBezTo>
                  <a:pt x="143653" y="180732"/>
                  <a:pt x="167854" y="181996"/>
                  <a:pt x="189577" y="173831"/>
                </a:cubicBezTo>
                <a:lnTo>
                  <a:pt x="207606" y="167076"/>
                </a:lnTo>
                <a:cubicBezTo>
                  <a:pt x="213681" y="164792"/>
                  <a:pt x="217714" y="159009"/>
                  <a:pt x="217714" y="152497"/>
                </a:cubicBezTo>
                <a:lnTo>
                  <a:pt x="217714" y="32123"/>
                </a:lnTo>
                <a:cubicBezTo>
                  <a:pt x="217714" y="20945"/>
                  <a:pt x="205954" y="13656"/>
                  <a:pt x="195943" y="18661"/>
                </a:cubicBezTo>
                <a:lnTo>
                  <a:pt x="190208" y="21528"/>
                </a:lnTo>
                <a:cubicBezTo>
                  <a:pt x="168388" y="32463"/>
                  <a:pt x="142681" y="32463"/>
                  <a:pt x="120812" y="21528"/>
                </a:cubicBezTo>
                <a:cubicBezTo>
                  <a:pt x="103123" y="12684"/>
                  <a:pt x="82761" y="10934"/>
                  <a:pt x="63856" y="16620"/>
                </a:cubicBezTo>
                <a:lnTo>
                  <a:pt x="31102" y="26437"/>
                </a:lnTo>
                <a:lnTo>
                  <a:pt x="31102" y="155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689" y="3300963"/>
            <a:ext cx="3367314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Country Matters Most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62689" y="3665894"/>
            <a:ext cx="3334139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Olympic history is the strongest predictor, accounting for 18.4% of model decisions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95517" y="2438400"/>
            <a:ext cx="3665894" cy="1857829"/>
          </a:xfrm>
          <a:custGeom>
            <a:avLst/>
            <a:gdLst/>
            <a:ahLst/>
            <a:cxnLst/>
            <a:rect l="l" t="t" r="r" b="b"/>
            <a:pathLst>
              <a:path w="3665894" h="1857829">
                <a:moveTo>
                  <a:pt x="132705" y="0"/>
                </a:moveTo>
                <a:lnTo>
                  <a:pt x="3533189" y="0"/>
                </a:lnTo>
                <a:cubicBezTo>
                  <a:pt x="3606480" y="0"/>
                  <a:pt x="3665894" y="59414"/>
                  <a:pt x="3665894" y="132705"/>
                </a:cubicBezTo>
                <a:lnTo>
                  <a:pt x="3665894" y="1725124"/>
                </a:lnTo>
                <a:cubicBezTo>
                  <a:pt x="3665894" y="1798415"/>
                  <a:pt x="3606480" y="1857829"/>
                  <a:pt x="3533189" y="1857829"/>
                </a:cubicBezTo>
                <a:lnTo>
                  <a:pt x="132705" y="1857829"/>
                </a:lnTo>
                <a:cubicBezTo>
                  <a:pt x="59414" y="1857829"/>
                  <a:pt x="0" y="1798415"/>
                  <a:pt x="0" y="1725124"/>
                </a:cubicBezTo>
                <a:lnTo>
                  <a:pt x="0" y="132705"/>
                </a:lnTo>
                <a:cubicBezTo>
                  <a:pt x="0" y="59414"/>
                  <a:pt x="59414" y="0"/>
                  <a:pt x="13270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24408" dist="82939" dir="540000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94570" y="2637453"/>
            <a:ext cx="530808" cy="530808"/>
          </a:xfrm>
          <a:custGeom>
            <a:avLst/>
            <a:gdLst/>
            <a:ahLst/>
            <a:cxnLst/>
            <a:rect l="l" t="t" r="r" b="b"/>
            <a:pathLst>
              <a:path w="530808" h="530808">
                <a:moveTo>
                  <a:pt x="132702" y="0"/>
                </a:moveTo>
                <a:lnTo>
                  <a:pt x="398106" y="0"/>
                </a:lnTo>
                <a:cubicBezTo>
                  <a:pt x="471346" y="0"/>
                  <a:pt x="530808" y="59462"/>
                  <a:pt x="530808" y="132702"/>
                </a:cubicBezTo>
                <a:lnTo>
                  <a:pt x="530808" y="398106"/>
                </a:lnTo>
                <a:cubicBezTo>
                  <a:pt x="530808" y="471346"/>
                  <a:pt x="471346" y="530808"/>
                  <a:pt x="398106" y="530808"/>
                </a:cubicBezTo>
                <a:lnTo>
                  <a:pt x="132702" y="530808"/>
                </a:lnTo>
                <a:cubicBezTo>
                  <a:pt x="59462" y="530808"/>
                  <a:pt x="0" y="471346"/>
                  <a:pt x="0" y="398106"/>
                </a:cubicBezTo>
                <a:lnTo>
                  <a:pt x="0" y="132702"/>
                </a:lnTo>
                <a:cubicBezTo>
                  <a:pt x="0" y="59413"/>
                  <a:pt x="59413" y="0"/>
                  <a:pt x="1327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Shape 16"/>
          <p:cNvSpPr/>
          <p:nvPr/>
        </p:nvSpPr>
        <p:spPr>
          <a:xfrm>
            <a:off x="8553191" y="2778449"/>
            <a:ext cx="217714" cy="248816"/>
          </a:xfrm>
          <a:custGeom>
            <a:avLst/>
            <a:gdLst/>
            <a:ahLst/>
            <a:cxnLst/>
            <a:rect l="l" t="t" r="r" b="b"/>
            <a:pathLst>
              <a:path w="217714" h="248816">
                <a:moveTo>
                  <a:pt x="117264" y="-6318"/>
                </a:moveTo>
                <a:cubicBezTo>
                  <a:pt x="111724" y="-7435"/>
                  <a:pt x="106039" y="-7435"/>
                  <a:pt x="100498" y="-6318"/>
                </a:cubicBezTo>
                <a:lnTo>
                  <a:pt x="9379" y="11906"/>
                </a:lnTo>
                <a:cubicBezTo>
                  <a:pt x="3936" y="12975"/>
                  <a:pt x="0" y="17786"/>
                  <a:pt x="0" y="23327"/>
                </a:cubicBezTo>
                <a:cubicBezTo>
                  <a:pt x="0" y="28332"/>
                  <a:pt x="3159" y="32706"/>
                  <a:pt x="7776" y="34309"/>
                </a:cubicBezTo>
                <a:lnTo>
                  <a:pt x="7776" y="69980"/>
                </a:lnTo>
                <a:lnTo>
                  <a:pt x="146" y="108177"/>
                </a:lnTo>
                <a:cubicBezTo>
                  <a:pt x="49" y="108614"/>
                  <a:pt x="0" y="109100"/>
                  <a:pt x="0" y="109586"/>
                </a:cubicBezTo>
                <a:cubicBezTo>
                  <a:pt x="0" y="113474"/>
                  <a:pt x="3159" y="116681"/>
                  <a:pt x="7095" y="116681"/>
                </a:cubicBezTo>
                <a:lnTo>
                  <a:pt x="24055" y="116681"/>
                </a:lnTo>
                <a:cubicBezTo>
                  <a:pt x="27943" y="116681"/>
                  <a:pt x="31151" y="113522"/>
                  <a:pt x="31151" y="109586"/>
                </a:cubicBezTo>
                <a:cubicBezTo>
                  <a:pt x="31151" y="109100"/>
                  <a:pt x="31102" y="108663"/>
                  <a:pt x="31005" y="108177"/>
                </a:cubicBezTo>
                <a:lnTo>
                  <a:pt x="23327" y="69980"/>
                </a:lnTo>
                <a:lnTo>
                  <a:pt x="23327" y="37565"/>
                </a:lnTo>
                <a:lnTo>
                  <a:pt x="46653" y="42231"/>
                </a:lnTo>
                <a:lnTo>
                  <a:pt x="46653" y="69980"/>
                </a:lnTo>
                <a:cubicBezTo>
                  <a:pt x="46653" y="104338"/>
                  <a:pt x="74499" y="132184"/>
                  <a:pt x="108857" y="132184"/>
                </a:cubicBezTo>
                <a:cubicBezTo>
                  <a:pt x="143215" y="132184"/>
                  <a:pt x="171061" y="104338"/>
                  <a:pt x="171061" y="69980"/>
                </a:cubicBezTo>
                <a:lnTo>
                  <a:pt x="171061" y="42231"/>
                </a:lnTo>
                <a:lnTo>
                  <a:pt x="208335" y="34795"/>
                </a:lnTo>
                <a:cubicBezTo>
                  <a:pt x="213778" y="33678"/>
                  <a:pt x="217714" y="28867"/>
                  <a:pt x="217714" y="23327"/>
                </a:cubicBezTo>
                <a:cubicBezTo>
                  <a:pt x="217714" y="17786"/>
                  <a:pt x="213778" y="12975"/>
                  <a:pt x="208335" y="11906"/>
                </a:cubicBezTo>
                <a:lnTo>
                  <a:pt x="117264" y="-6318"/>
                </a:lnTo>
                <a:close/>
                <a:moveTo>
                  <a:pt x="108857" y="108857"/>
                </a:moveTo>
                <a:cubicBezTo>
                  <a:pt x="87377" y="108857"/>
                  <a:pt x="69980" y="91459"/>
                  <a:pt x="69980" y="69980"/>
                </a:cubicBezTo>
                <a:lnTo>
                  <a:pt x="147735" y="69980"/>
                </a:lnTo>
                <a:cubicBezTo>
                  <a:pt x="147735" y="91459"/>
                  <a:pt x="130337" y="108857"/>
                  <a:pt x="108857" y="108857"/>
                </a:cubicBezTo>
                <a:close/>
                <a:moveTo>
                  <a:pt x="58365" y="155559"/>
                </a:moveTo>
                <a:cubicBezTo>
                  <a:pt x="28526" y="169263"/>
                  <a:pt x="7776" y="199393"/>
                  <a:pt x="7776" y="234383"/>
                </a:cubicBezTo>
                <a:cubicBezTo>
                  <a:pt x="7776" y="242353"/>
                  <a:pt x="14239" y="248816"/>
                  <a:pt x="22209" y="248816"/>
                </a:cubicBezTo>
                <a:lnTo>
                  <a:pt x="97194" y="248816"/>
                </a:lnTo>
                <a:lnTo>
                  <a:pt x="97194" y="177865"/>
                </a:lnTo>
                <a:lnTo>
                  <a:pt x="69299" y="156968"/>
                </a:lnTo>
                <a:cubicBezTo>
                  <a:pt x="66140" y="154587"/>
                  <a:pt x="61912" y="153955"/>
                  <a:pt x="58316" y="155607"/>
                </a:cubicBezTo>
                <a:close/>
                <a:moveTo>
                  <a:pt x="120520" y="248816"/>
                </a:moveTo>
                <a:lnTo>
                  <a:pt x="195505" y="248816"/>
                </a:lnTo>
                <a:cubicBezTo>
                  <a:pt x="203475" y="248816"/>
                  <a:pt x="209939" y="242353"/>
                  <a:pt x="209939" y="234383"/>
                </a:cubicBezTo>
                <a:cubicBezTo>
                  <a:pt x="209939" y="199393"/>
                  <a:pt x="189188" y="169263"/>
                  <a:pt x="159349" y="155607"/>
                </a:cubicBezTo>
                <a:cubicBezTo>
                  <a:pt x="155753" y="153955"/>
                  <a:pt x="151525" y="154587"/>
                  <a:pt x="148366" y="156968"/>
                </a:cubicBezTo>
                <a:lnTo>
                  <a:pt x="120472" y="177865"/>
                </a:lnTo>
                <a:lnTo>
                  <a:pt x="120472" y="2488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8394570" y="3300963"/>
            <a:ext cx="3367314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 Counts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94570" y="3665894"/>
            <a:ext cx="3334139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 Olympic appearances and medals significantly increase prediction confidence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31755" y="4627984"/>
            <a:ext cx="11528490" cy="1343608"/>
          </a:xfrm>
          <a:custGeom>
            <a:avLst/>
            <a:gdLst/>
            <a:ahLst/>
            <a:cxnLst/>
            <a:rect l="l" t="t" r="r" b="b"/>
            <a:pathLst>
              <a:path w="11528490" h="1343608">
                <a:moveTo>
                  <a:pt x="132708" y="0"/>
                </a:moveTo>
                <a:lnTo>
                  <a:pt x="11395782" y="0"/>
                </a:lnTo>
                <a:cubicBezTo>
                  <a:pt x="11469074" y="0"/>
                  <a:pt x="11528490" y="59415"/>
                  <a:pt x="11528490" y="132708"/>
                </a:cubicBezTo>
                <a:lnTo>
                  <a:pt x="11528490" y="1210900"/>
                </a:lnTo>
                <a:cubicBezTo>
                  <a:pt x="11528490" y="1284193"/>
                  <a:pt x="11469074" y="1343608"/>
                  <a:pt x="11395782" y="1343608"/>
                </a:cubicBezTo>
                <a:lnTo>
                  <a:pt x="132708" y="1343608"/>
                </a:lnTo>
                <a:cubicBezTo>
                  <a:pt x="59415" y="1343608"/>
                  <a:pt x="0" y="1284193"/>
                  <a:pt x="0" y="1210900"/>
                </a:cubicBezTo>
                <a:lnTo>
                  <a:pt x="0" y="132708"/>
                </a:lnTo>
                <a:cubicBezTo>
                  <a:pt x="0" y="59465"/>
                  <a:pt x="59465" y="0"/>
                  <a:pt x="132708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3" name="Text 20"/>
          <p:cNvSpPr/>
          <p:nvPr/>
        </p:nvSpPr>
        <p:spPr>
          <a:xfrm>
            <a:off x="597159" y="4893388"/>
            <a:ext cx="1108062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analysis demonstrates that </a:t>
            </a:r>
            <a:pPr>
              <a:lnSpc>
                <a:spcPct val="140000"/>
              </a:lnSpc>
            </a:pPr>
            <a:r>
              <a:rPr lang="en-US" sz="1306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Olympic medal outcomes are predictable</a:t>
            </a:r>
            <a:pPr>
              <a:lnSpc>
                <a:spcPct val="140000"/>
              </a:lnSpc>
            </a:pPr>
            <a:r>
              <a:rPr lang="en-US" sz="130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historical data and machine learning. While country investment and athlete experience are dominant factors, sport-appropriate physical attributes and age also play crucial roles. The model provides valuable insights for athletes, coaches, and sports analysts seeking to understand the drivers of Olympic success.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31755" y="5971592"/>
            <a:ext cx="11528490" cy="8294"/>
          </a:xfrm>
          <a:custGeom>
            <a:avLst/>
            <a:gdLst/>
            <a:ahLst/>
            <a:cxnLst/>
            <a:rect l="l" t="t" r="r" b="b"/>
            <a:pathLst>
              <a:path w="11528490" h="8294">
                <a:moveTo>
                  <a:pt x="0" y="0"/>
                </a:moveTo>
                <a:lnTo>
                  <a:pt x="11528490" y="0"/>
                </a:lnTo>
                <a:lnTo>
                  <a:pt x="11528490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5" name="Shape 22"/>
          <p:cNvSpPr/>
          <p:nvPr/>
        </p:nvSpPr>
        <p:spPr>
          <a:xfrm>
            <a:off x="331755" y="6207967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199053" y="0"/>
                </a:moveTo>
                <a:lnTo>
                  <a:pt x="199053" y="0"/>
                </a:lnTo>
                <a:cubicBezTo>
                  <a:pt x="308913" y="0"/>
                  <a:pt x="398106" y="89193"/>
                  <a:pt x="398106" y="199053"/>
                </a:cubicBezTo>
                <a:lnTo>
                  <a:pt x="398106" y="199053"/>
                </a:lnTo>
                <a:cubicBezTo>
                  <a:pt x="398106" y="308913"/>
                  <a:pt x="308913" y="398106"/>
                  <a:pt x="199053" y="398106"/>
                </a:cubicBezTo>
                <a:lnTo>
                  <a:pt x="199053" y="398106"/>
                </a:lnTo>
                <a:cubicBezTo>
                  <a:pt x="89193" y="398106"/>
                  <a:pt x="0" y="308913"/>
                  <a:pt x="0" y="199053"/>
                </a:cubicBezTo>
                <a:lnTo>
                  <a:pt x="0" y="199053"/>
                </a:lnTo>
                <a:cubicBezTo>
                  <a:pt x="0" y="89193"/>
                  <a:pt x="89193" y="0"/>
                  <a:pt x="19905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Shape 23"/>
          <p:cNvSpPr/>
          <p:nvPr/>
        </p:nvSpPr>
        <p:spPr>
          <a:xfrm>
            <a:off x="458237" y="6324082"/>
            <a:ext cx="145143" cy="165878"/>
          </a:xfrm>
          <a:custGeom>
            <a:avLst/>
            <a:gdLst/>
            <a:ahLst/>
            <a:cxnLst/>
            <a:rect l="l" t="t" r="r" b="b"/>
            <a:pathLst>
              <a:path w="145143" h="165878">
                <a:moveTo>
                  <a:pt x="72669" y="41469"/>
                </a:moveTo>
                <a:lnTo>
                  <a:pt x="45260" y="-4179"/>
                </a:lnTo>
                <a:cubicBezTo>
                  <a:pt x="43154" y="-7678"/>
                  <a:pt x="38748" y="-8942"/>
                  <a:pt x="35119" y="-7128"/>
                </a:cubicBezTo>
                <a:lnTo>
                  <a:pt x="7063" y="6901"/>
                </a:lnTo>
                <a:cubicBezTo>
                  <a:pt x="3207" y="8812"/>
                  <a:pt x="1652" y="13478"/>
                  <a:pt x="3564" y="17333"/>
                </a:cubicBezTo>
                <a:lnTo>
                  <a:pt x="26113" y="62398"/>
                </a:lnTo>
                <a:cubicBezTo>
                  <a:pt x="16361" y="73381"/>
                  <a:pt x="10465" y="87831"/>
                  <a:pt x="10465" y="103673"/>
                </a:cubicBezTo>
                <a:cubicBezTo>
                  <a:pt x="10465" y="138015"/>
                  <a:pt x="38327" y="165878"/>
                  <a:pt x="72669" y="165878"/>
                </a:cubicBezTo>
                <a:cubicBezTo>
                  <a:pt x="107010" y="165878"/>
                  <a:pt x="134873" y="138015"/>
                  <a:pt x="134873" y="103673"/>
                </a:cubicBezTo>
                <a:cubicBezTo>
                  <a:pt x="134873" y="87831"/>
                  <a:pt x="128944" y="73381"/>
                  <a:pt x="119224" y="62398"/>
                </a:cubicBezTo>
                <a:lnTo>
                  <a:pt x="141773" y="17333"/>
                </a:lnTo>
                <a:cubicBezTo>
                  <a:pt x="143685" y="13478"/>
                  <a:pt x="142130" y="8812"/>
                  <a:pt x="138307" y="6901"/>
                </a:cubicBezTo>
                <a:lnTo>
                  <a:pt x="110218" y="-7160"/>
                </a:lnTo>
                <a:cubicBezTo>
                  <a:pt x="106589" y="-8974"/>
                  <a:pt x="102151" y="-7678"/>
                  <a:pt x="100077" y="-4212"/>
                </a:cubicBezTo>
                <a:lnTo>
                  <a:pt x="72669" y="41469"/>
                </a:lnTo>
                <a:close/>
                <a:moveTo>
                  <a:pt x="82647" y="87636"/>
                </a:moveTo>
                <a:cubicBezTo>
                  <a:pt x="83101" y="88544"/>
                  <a:pt x="83943" y="89159"/>
                  <a:pt x="84915" y="89289"/>
                </a:cubicBezTo>
                <a:lnTo>
                  <a:pt x="101146" y="91654"/>
                </a:lnTo>
                <a:cubicBezTo>
                  <a:pt x="103641" y="92010"/>
                  <a:pt x="104613" y="95056"/>
                  <a:pt x="102831" y="96838"/>
                </a:cubicBezTo>
                <a:lnTo>
                  <a:pt x="91071" y="108306"/>
                </a:lnTo>
                <a:cubicBezTo>
                  <a:pt x="90358" y="109019"/>
                  <a:pt x="90034" y="109991"/>
                  <a:pt x="90196" y="110995"/>
                </a:cubicBezTo>
                <a:lnTo>
                  <a:pt x="92982" y="127162"/>
                </a:lnTo>
                <a:cubicBezTo>
                  <a:pt x="93403" y="129624"/>
                  <a:pt x="90811" y="131536"/>
                  <a:pt x="88576" y="130369"/>
                </a:cubicBezTo>
                <a:lnTo>
                  <a:pt x="74062" y="122723"/>
                </a:lnTo>
                <a:cubicBezTo>
                  <a:pt x="73187" y="122270"/>
                  <a:pt x="72118" y="122270"/>
                  <a:pt x="71243" y="122723"/>
                </a:cubicBezTo>
                <a:lnTo>
                  <a:pt x="56729" y="130369"/>
                </a:lnTo>
                <a:cubicBezTo>
                  <a:pt x="54493" y="131536"/>
                  <a:pt x="51902" y="129657"/>
                  <a:pt x="52323" y="127162"/>
                </a:cubicBezTo>
                <a:lnTo>
                  <a:pt x="55109" y="110995"/>
                </a:lnTo>
                <a:cubicBezTo>
                  <a:pt x="55271" y="110023"/>
                  <a:pt x="54947" y="109019"/>
                  <a:pt x="54234" y="108306"/>
                </a:cubicBezTo>
                <a:lnTo>
                  <a:pt x="42474" y="96838"/>
                </a:lnTo>
                <a:cubicBezTo>
                  <a:pt x="40659" y="95088"/>
                  <a:pt x="41664" y="92043"/>
                  <a:pt x="44158" y="91654"/>
                </a:cubicBezTo>
                <a:lnTo>
                  <a:pt x="60390" y="89289"/>
                </a:lnTo>
                <a:cubicBezTo>
                  <a:pt x="61362" y="89159"/>
                  <a:pt x="62236" y="88511"/>
                  <a:pt x="62658" y="87636"/>
                </a:cubicBezTo>
                <a:lnTo>
                  <a:pt x="69915" y="72928"/>
                </a:lnTo>
                <a:cubicBezTo>
                  <a:pt x="71016" y="70660"/>
                  <a:pt x="74224" y="70660"/>
                  <a:pt x="75358" y="72928"/>
                </a:cubicBezTo>
                <a:lnTo>
                  <a:pt x="82615" y="8763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862563" y="6224555"/>
            <a:ext cx="1609012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Project 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2563" y="6423608"/>
            <a:ext cx="160071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Olympic Medal Prediction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066726" y="6489959"/>
            <a:ext cx="9176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1734" y="2132738"/>
            <a:ext cx="5068531" cy="9530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33333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23932" y="3429000"/>
            <a:ext cx="2944136" cy="6002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QUESTIONS.?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43231" y="6509615"/>
            <a:ext cx="1020147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6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 of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Medal Prediction - Machine Learning Analysis</dc:title>
  <dc:subject>Olympic Medal Prediction - Machine Learning Analysis</dc:subject>
  <dc:creator>Kimi</dc:creator>
  <cp:lastModifiedBy>Kimi</cp:lastModifiedBy>
  <cp:revision>1</cp:revision>
  <dcterms:created xsi:type="dcterms:W3CDTF">2026-02-13T00:35:10Z</dcterms:created>
  <dcterms:modified xsi:type="dcterms:W3CDTF">2026-02-13T00:35:10Z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{"Label":"Olympic Medal Prediction - Machine Learning Analysis","ContentProducer":"001191110108MACG2KBH8F10000","ProduceID":"19c53f53-c272-8705-8000-00001ced9914","ReservedCode1":"","ContentPropagator":"001191110108MACG2KBH8F20000","PropagateID":"19c53f53-c272-8705-8000-00001ced9914","ReservedCode2":""}</vt:lpwstr>
  </property>
</Properties>
</file>